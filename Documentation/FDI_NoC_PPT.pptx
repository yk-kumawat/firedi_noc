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4415" r:id="rId2"/>
    <p:sldMasterId id="2147484403" r:id="rId3"/>
    <p:sldMasterId id="2147484391" r:id="rId4"/>
    <p:sldMasterId id="2147483913" r:id="rId5"/>
  </p:sldMasterIdLst>
  <p:notesMasterIdLst>
    <p:notesMasterId r:id="rId23"/>
  </p:notesMasterIdLst>
  <p:sldIdLst>
    <p:sldId id="707" r:id="rId6"/>
    <p:sldId id="727" r:id="rId7"/>
    <p:sldId id="712" r:id="rId8"/>
    <p:sldId id="713" r:id="rId9"/>
    <p:sldId id="733" r:id="rId10"/>
    <p:sldId id="732" r:id="rId11"/>
    <p:sldId id="731" r:id="rId12"/>
    <p:sldId id="711" r:id="rId13"/>
    <p:sldId id="726" r:id="rId14"/>
    <p:sldId id="725" r:id="rId15"/>
    <p:sldId id="714" r:id="rId16"/>
    <p:sldId id="716" r:id="rId17"/>
    <p:sldId id="715" r:id="rId18"/>
    <p:sldId id="728" r:id="rId19"/>
    <p:sldId id="729" r:id="rId20"/>
    <p:sldId id="723" r:id="rId21"/>
    <p:sldId id="734" r:id="rId2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orient="horz" pos="2260">
          <p15:clr>
            <a:srgbClr val="A4A3A4"/>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2800"/>
    <a:srgbClr val="CC33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21" autoAdjust="0"/>
    <p:restoredTop sz="95388" autoAdjust="0"/>
  </p:normalViewPr>
  <p:slideViewPr>
    <p:cSldViewPr>
      <p:cViewPr varScale="1">
        <p:scale>
          <a:sx n="85" d="100"/>
          <a:sy n="85" d="100"/>
        </p:scale>
        <p:origin x="1123" y="48"/>
      </p:cViewPr>
      <p:guideLst>
        <p:guide orient="horz" pos="2160"/>
        <p:guide orient="horz" pos="2260"/>
        <p:guide pos="2880"/>
      </p:guideLst>
    </p:cSldViewPr>
  </p:slideViewPr>
  <p:notesTextViewPr>
    <p:cViewPr>
      <p:scale>
        <a:sx n="100" d="100"/>
        <a:sy n="100" d="100"/>
      </p:scale>
      <p:origin x="0" y="0"/>
    </p:cViewPr>
  </p:notesTextViewPr>
  <p:sorterViewPr>
    <p:cViewPr>
      <p:scale>
        <a:sx n="100" d="100"/>
        <a:sy n="100" d="100"/>
      </p:scale>
      <p:origin x="0" y="-2580"/>
    </p:cViewPr>
  </p:sorterViewPr>
  <p:gridSpacing cx="68400" cy="684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charset="0"/>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latin typeface="Arial" charset="0"/>
                <a:cs typeface="+mn-cs"/>
              </a:defRPr>
            </a:lvl1pPr>
          </a:lstStyle>
          <a:p>
            <a:pPr>
              <a:defRPr/>
            </a:pPr>
            <a:fld id="{B9BD5F91-9949-47C7-B50B-53688910CF80}" type="datetimeFigureOut">
              <a:rPr lang="en-US"/>
              <a:pPr>
                <a:defRPr/>
              </a:pPr>
              <a:t>10/22/2026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charset="0"/>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0C02CEF6-7EFD-4AC6-8E8B-952C679996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72C1B04-4C4E-4504-9A95-7E7033F574B0}"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42CD85B-1DEA-4D4F-96CB-556A77292B24}"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AA6679C4-AB75-4074-B5A1-8AA33038237C}"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50" y="2619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1A023E3-2D95-4CCE-8B8C-9C01BEE1CA52}"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23850" y="2619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9"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E8C6D5E0-9232-48BD-BF5B-8FF1C0F2FD43}"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23850" y="261938"/>
            <a:ext cx="8229600" cy="1143000"/>
          </a:xfrm>
          <a:prstGeom prst="rect">
            <a:avLst/>
          </a:prstGeom>
        </p:spPr>
        <p:txBody>
          <a:bodyPr/>
          <a:lstStyle/>
          <a:p>
            <a:r>
              <a:rPr lang="en-US"/>
              <a:t>Click to edit Master title style</a:t>
            </a:r>
            <a:endParaRPr lang="en-IN"/>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5"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D18F0A8-6405-4F67-913F-1EF3B65764F3}"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E4194FE-AD55-4A9F-9872-164246F64E9F}"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59B76032-E0D2-4706-B861-46A161B314DC}"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23850" y="2619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2C9E0CB-6069-475D-A72D-73DC73A26C20}"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02BB1D9-2B5B-4691-B0AA-D59A62A25C92}"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0" hangingPunct="0">
              <a:defRPr>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3700665E-C754-4023-B9F0-37DED1FC10D3}"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GMCET_IT">
    <p:spTree>
      <p:nvGrpSpPr>
        <p:cNvPr id="1" name=""/>
        <p:cNvGrpSpPr/>
        <p:nvPr/>
      </p:nvGrpSpPr>
      <p:grpSpPr>
        <a:xfrm>
          <a:off x="0" y="0"/>
          <a:ext cx="0" cy="0"/>
          <a:chOff x="0" y="0"/>
          <a:chExt cx="0" cy="0"/>
        </a:xfrm>
      </p:grpSpPr>
      <p:sp>
        <p:nvSpPr>
          <p:cNvPr id="2" name="Title 1"/>
          <p:cNvSpPr>
            <a:spLocks noGrp="1"/>
          </p:cNvSpPr>
          <p:nvPr>
            <p:ph type="title"/>
          </p:nvPr>
        </p:nvSpPr>
        <p:spPr>
          <a:xfrm>
            <a:off x="-14743" y="0"/>
            <a:ext cx="78867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A23EEEC-FAA9-4B95-B298-54A4BAC5D526}"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589B6BD-7CAB-4551-8178-C8785548D5D9}" type="slidenum">
              <a:rPr lang="en-US" altLang="en-US"/>
              <a:pPr>
                <a:defRPr/>
              </a:pPr>
              <a:t>‹#›</a:t>
            </a:fld>
            <a:endParaRPr lang="en-US"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B0C70D2-54AA-4418-9017-4CD3C3DDCC5F}"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6EE4857-D4B6-451C-BA94-14FBFA10116C}" type="slidenum">
              <a:rPr lang="en-US" altLang="en-US"/>
              <a:pPr>
                <a:defRPr/>
              </a:pPr>
              <a:t>‹#›</a:t>
            </a:fld>
            <a:endParaRPr lang="en-US"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880C692-5545-41B2-8A7B-74687458B121}"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F58E72F-02FC-46F2-9210-0BA32A1642CC}" type="slidenum">
              <a:rPr lang="en-US" altLang="en-US"/>
              <a:pPr>
                <a:defRPr/>
              </a:pPr>
              <a:t>‹#›</a:t>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ECEBCCFC-8727-45DB-9C87-1B2D1ED77890}" type="datetimeFigureOut">
              <a:rPr lang="en-US"/>
              <a:pPr>
                <a:defRPr/>
              </a:pPr>
              <a:t>10/22/2026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18082A4-1BC6-4DDD-88D0-18BDBDFB1055}" type="slidenum">
              <a:rPr lang="en-US" altLang="en-US"/>
              <a:pPr>
                <a:defRPr/>
              </a:pPr>
              <a:t>‹#›</a:t>
            </a:fld>
            <a:endParaRPr lang="en-US"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A897429F-26FE-496C-A47E-1048CF21F9DA}" type="datetimeFigureOut">
              <a:rPr lang="en-US"/>
              <a:pPr>
                <a:defRPr/>
              </a:pPr>
              <a:t>10/22/2026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2E7DA420-B580-4CF7-9408-11BA28E4752B}" type="slidenum">
              <a:rPr lang="en-US" altLang="en-US"/>
              <a:pPr>
                <a:defRPr/>
              </a:pPr>
              <a:t>‹#›</a:t>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EF8FD72-B832-4542-AFA7-E8FF35AEA8ED}" type="datetimeFigureOut">
              <a:rPr lang="en-US"/>
              <a:pPr>
                <a:defRPr/>
              </a:pPr>
              <a:t>10/22/2026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6BA2183-4A8C-43B1-A86D-FE49DE51FCFD}" type="slidenum">
              <a:rPr lang="en-US" altLang="en-US"/>
              <a:pPr>
                <a:defRPr/>
              </a:pPr>
              <a:t>‹#›</a:t>
            </a:fld>
            <a:endParaRPr lang="en-US"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E9481CE-71F6-463A-9CE3-BB02E67E841F}" type="datetimeFigureOut">
              <a:rPr lang="en-US"/>
              <a:pPr>
                <a:defRPr/>
              </a:pPr>
              <a:t>10/22/2026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6214889-0BD5-49A2-8D48-224D4DB8A642}" type="slidenum">
              <a:rPr lang="en-US" altLang="en-US"/>
              <a:pPr>
                <a:defRPr/>
              </a:pPr>
              <a:t>‹#›</a:t>
            </a:fld>
            <a:endParaRPr lang="en-US"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D71222A-1906-4426-A9D7-ADABBE0A575C}" type="datetimeFigureOut">
              <a:rPr lang="en-US"/>
              <a:pPr>
                <a:defRPr/>
              </a:pPr>
              <a:t>10/22/2026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3309FFC-9FEC-4D00-86DC-26CD0ECB39F6}" type="slidenum">
              <a:rPr lang="en-US" altLang="en-US"/>
              <a:pPr>
                <a:defRPr/>
              </a:pPr>
              <a:t>‹#›</a:t>
            </a:fld>
            <a:endParaRPr lang="en-US"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9059A07-99B8-46E3-A3F7-129F384A6B0D}" type="datetimeFigureOut">
              <a:rPr lang="en-US"/>
              <a:pPr>
                <a:defRPr/>
              </a:pPr>
              <a:t>10/22/2026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AF1D89B-D1F0-447F-A13B-7E92C10C19A7}" type="slidenum">
              <a:rPr lang="en-US" altLang="en-US"/>
              <a:pPr>
                <a:defRPr/>
              </a:pPr>
              <a:t>‹#›</a:t>
            </a:fld>
            <a:endParaRPr lang="en-US"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32D30C1-A137-4BEF-9DE8-BE141B3F4B36}"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6835F33-39AA-4BA3-92FE-2092196C04C6}" type="slidenum">
              <a:rPr lang="en-US" altLang="en-US"/>
              <a:pPr>
                <a:defRPr/>
              </a:pPr>
              <a:t>‹#›</a:t>
            </a:fld>
            <a:endParaRPr lang="en-US"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8CBE19A-F5A0-481D-9A11-E44D2BDBAB54}"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5064284-A7BC-499F-8F89-265356CA65F7}" type="slidenum">
              <a:rPr lang="en-US" altLang="en-US"/>
              <a:pPr>
                <a:defRPr/>
              </a:pPr>
              <a:t>‹#›</a:t>
            </a:fld>
            <a:endParaRPr lang="en-US"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618B8624-5024-4064-98A7-5A768E57590E}"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4CBACF6-34EF-402F-84DE-A32BBF2656AE}" type="slidenum">
              <a:rPr lang="en-US" altLang="en-US"/>
              <a:pPr>
                <a:defRPr/>
              </a:pPr>
              <a:t>‹#›</a:t>
            </a:fld>
            <a:endParaRPr lang="en-US"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5D8AC88-469A-4AC8-9D5B-9B96A023EAEB}"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574CAAC-81A0-42AA-8B91-896C4386E1C0}" type="slidenum">
              <a:rPr lang="en-US" altLang="en-US"/>
              <a:pPr>
                <a:defRPr/>
              </a:pPr>
              <a:t>‹#›</a:t>
            </a:fld>
            <a:endParaRPr lang="en-US"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12E88B1-821A-4041-9343-9B0916733E81}"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B1C193E-C854-4E4A-89B7-255CF9EC9F4B}" type="slidenum">
              <a:rPr lang="en-US" altLang="en-US"/>
              <a:pPr>
                <a:defRPr/>
              </a:pPr>
              <a:t>‹#›</a:t>
            </a:fld>
            <a:endParaRPr lang="en-US"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553985F7-812E-4763-AC30-C2EA10B4D4FC}" type="datetimeFigureOut">
              <a:rPr lang="en-US"/>
              <a:pPr>
                <a:defRPr/>
              </a:pPr>
              <a:t>10/22/2026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7BB874A-2867-4F8F-BDCF-FCF06877C7BF}" type="slidenum">
              <a:rPr lang="en-US" altLang="en-US"/>
              <a:pPr>
                <a:defRPr/>
              </a:pPr>
              <a:t>‹#›</a:t>
            </a:fld>
            <a:endParaRPr lang="en-US"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C418AAC7-FB94-4E01-A4F7-967388BB1D64}" type="datetimeFigureOut">
              <a:rPr lang="en-US"/>
              <a:pPr>
                <a:defRPr/>
              </a:pPr>
              <a:t>10/22/2026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854C7AB-64EE-4C2B-85F0-514D2B9A9D9E}" type="slidenum">
              <a:rPr lang="en-US" altLang="en-US"/>
              <a:pPr>
                <a:defRPr/>
              </a:pPr>
              <a:t>‹#›</a:t>
            </a:fld>
            <a:endParaRPr lang="en-US"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696C50D-A6F3-46D2-BBFB-D8A3DDC4A72A}" type="datetimeFigureOut">
              <a:rPr lang="en-US"/>
              <a:pPr>
                <a:defRPr/>
              </a:pPr>
              <a:t>10/22/2026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236C5BD-CE16-47AF-A02E-2953595159D6}" type="slidenum">
              <a:rPr lang="en-US" altLang="en-US"/>
              <a:pPr>
                <a:defRPr/>
              </a:pPr>
              <a:t>‹#›</a:t>
            </a:fld>
            <a:endParaRPr lang="en-US"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C670871-AFEE-4841-8308-363DAFCFC298}" type="datetimeFigureOut">
              <a:rPr lang="en-US"/>
              <a:pPr>
                <a:defRPr/>
              </a:pPr>
              <a:t>10/22/2026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F0CE061-4849-4944-980A-AC895D099CFF}" type="slidenum">
              <a:rPr lang="en-US" altLang="en-US"/>
              <a:pPr>
                <a:defRPr/>
              </a:pPr>
              <a:t>‹#›</a:t>
            </a:fld>
            <a:endParaRPr lang="en-US"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3C57182-3A78-437C-B9DB-DF8473D83A38}" type="datetimeFigureOut">
              <a:rPr lang="en-US"/>
              <a:pPr>
                <a:defRPr/>
              </a:pPr>
              <a:t>10/22/2026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CC4C46A-53C0-4AC8-A706-5D2984C6EEE5}" type="slidenum">
              <a:rPr lang="en-US" altLang="en-US"/>
              <a:pPr>
                <a:defRPr/>
              </a:pPr>
              <a:t>‹#›</a:t>
            </a:fld>
            <a:endParaRPr lang="en-US"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D207A20-EDB9-44FD-A00B-9D63F1F71CFD}" type="datetimeFigureOut">
              <a:rPr lang="en-US"/>
              <a:pPr>
                <a:defRPr/>
              </a:pPr>
              <a:t>10/22/2026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170A43A-B832-4636-B487-10611F66C328}" type="slidenum">
              <a:rPr lang="en-US" altLang="en-US"/>
              <a:pPr>
                <a:defRPr/>
              </a:pPr>
              <a:t>‹#›</a:t>
            </a:fld>
            <a:endParaRPr lang="en-US"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CD37680-4880-4D10-8DFF-F96D91147522}"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0FADCB-843A-48E3-8C70-3D54FF45738D}" type="slidenum">
              <a:rPr lang="en-US" altLang="en-US"/>
              <a:pPr>
                <a:defRPr/>
              </a:pPr>
              <a:t>‹#›</a:t>
            </a:fld>
            <a:endParaRPr lang="en-US"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A44CDA3-60A7-4EBE-844D-1C0B6BE3F31F}"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51F8FB8-9548-45AC-B249-7CEACE1EDA3D}" type="slidenum">
              <a:rPr lang="en-US" altLang="en-US"/>
              <a:pPr>
                <a:defRPr/>
              </a:pPr>
              <a:t>‹#›</a:t>
            </a:fld>
            <a:endParaRPr lang="en-US"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C59281C-3B63-43DE-A984-07F22D615847}"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8EC5B20-7650-4263-84A5-DF67C5AE64E5}" type="slidenum">
              <a:rPr lang="en-US" altLang="en-US"/>
              <a:pPr>
                <a:defRPr/>
              </a:pPr>
              <a:t>‹#›</a:t>
            </a:fld>
            <a:endParaRPr lang="en-US"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E3CED8F-417F-4B78-AB62-ED5FFA4C5DF8}"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5C7480B-FD3C-4D10-AFD7-38AEEA098A02}" type="slidenum">
              <a:rPr lang="en-US" altLang="en-US"/>
              <a:pPr>
                <a:defRPr/>
              </a:pPr>
              <a:t>‹#›</a:t>
            </a:fld>
            <a:endParaRPr lang="en-US"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B412FF3-C237-42C5-B5F0-AE598CE189D5}"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7A03D3C-BDAB-48B2-B7FB-0780C6498C5F}" type="slidenum">
              <a:rPr lang="en-US" altLang="en-US"/>
              <a:pPr>
                <a:defRPr/>
              </a:pPr>
              <a:t>‹#›</a:t>
            </a:fld>
            <a:endParaRPr lang="en-US"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E801DBF-506B-47CE-92CD-BFEA3C265C3B}" type="datetimeFigureOut">
              <a:rPr lang="en-US"/>
              <a:pPr>
                <a:defRPr/>
              </a:pPr>
              <a:t>10/22/2026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25FDE0A-129A-4FCF-83AB-5969FF700F92}" type="slidenum">
              <a:rPr lang="en-US" altLang="en-US"/>
              <a:pPr>
                <a:defRPr/>
              </a:pPr>
              <a:t>‹#›</a:t>
            </a:fld>
            <a:endParaRPr lang="en-US"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C328C45-C2DE-45AC-9006-EFC5B2330B43}" type="datetimeFigureOut">
              <a:rPr lang="en-US"/>
              <a:pPr>
                <a:defRPr/>
              </a:pPr>
              <a:t>10/22/2026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B5711A8-513D-4986-B838-7F91ABD9908D}" type="slidenum">
              <a:rPr lang="en-US" altLang="en-US"/>
              <a:pPr>
                <a:defRPr/>
              </a:pPr>
              <a:t>‹#›</a:t>
            </a:fld>
            <a:endParaRPr lang="en-US"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02D18380-DBB9-4492-8E04-3311C3739C62}" type="datetimeFigureOut">
              <a:rPr lang="en-US"/>
              <a:pPr>
                <a:defRPr/>
              </a:pPr>
              <a:t>10/22/2026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E084414-02B5-47E6-978A-A51FD8539346}" type="slidenum">
              <a:rPr lang="en-US" altLang="en-US"/>
              <a:pPr>
                <a:defRPr/>
              </a:pPr>
              <a:t>‹#›</a:t>
            </a:fld>
            <a:endParaRPr lang="en-US"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FBD7653-DF18-4894-9EFC-33A48271ECC4}" type="datetimeFigureOut">
              <a:rPr lang="en-US"/>
              <a:pPr>
                <a:defRPr/>
              </a:pPr>
              <a:t>10/22/2026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6B6E077-A5DD-4EF6-B770-58872EB25507}" type="slidenum">
              <a:rPr lang="en-US" altLang="en-US"/>
              <a:pPr>
                <a:defRPr/>
              </a:pPr>
              <a:t>‹#›</a:t>
            </a:fld>
            <a:endParaRPr lang="en-US"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BEA82E6-00FC-42BE-AFE5-582BD00E4D33}" type="datetimeFigureOut">
              <a:rPr lang="en-US"/>
              <a:pPr>
                <a:defRPr/>
              </a:pPr>
              <a:t>10/22/2026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3D7C075-64CD-4EAA-A656-E00F4EF86B15}" type="slidenum">
              <a:rPr lang="en-US" altLang="en-US"/>
              <a:pPr>
                <a:defRPr/>
              </a:pPr>
              <a:t>‹#›</a:t>
            </a:fld>
            <a:endParaRPr lang="en-US"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FB32B09-E22D-4570-9405-BA32818087C1}" type="datetimeFigureOut">
              <a:rPr lang="en-US"/>
              <a:pPr>
                <a:defRPr/>
              </a:pPr>
              <a:t>10/22/2026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A47023-8438-4C19-938D-D4490906601A}" type="slidenum">
              <a:rPr lang="en-US" altLang="en-US"/>
              <a:pPr>
                <a:defRPr/>
              </a:pPr>
              <a:t>‹#›</a:t>
            </a:fld>
            <a:endParaRPr lang="en-US"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F995DA3-6DA3-4F10-8D7E-A9ED5772DC04}"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127DEF1-6F52-4FC8-92DF-D19D54131DBB}" type="slidenum">
              <a:rPr lang="en-US" altLang="en-US"/>
              <a:pPr>
                <a:defRPr/>
              </a:pPr>
              <a:t>‹#›</a:t>
            </a:fld>
            <a:endParaRPr lang="en-US"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0A3596F-6421-4E02-842D-1318F312002A}" type="datetimeFigureOut">
              <a:rPr lang="en-US"/>
              <a:pPr>
                <a:defRPr/>
              </a:pPr>
              <a:t>10/22/2026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76F55A0-03AE-478F-8B7D-93E0BC91F49A}" type="slidenum">
              <a:rPr lang="en-US" altLang="en-US"/>
              <a:pPr>
                <a:defRPr/>
              </a:pPr>
              <a:t>‹#›</a:t>
            </a:fld>
            <a:endParaRPr lang="en-US"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a:defRPr/>
            </a:pPr>
            <a:fld id="{BFD52DAD-5326-49BA-9BDB-93B7D702E738}" type="datetimeFigureOut">
              <a:rPr lang="en-IN"/>
              <a:pPr>
                <a:defRPr/>
              </a:pPr>
              <a:t>22-10-2026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52CBE074-FF29-4C9D-9CD1-40745084156A}" type="slidenum">
              <a:rPr lang="en-IN" altLang="en-US"/>
              <a:pPr>
                <a:defRPr/>
              </a:pPr>
              <a:t>‹#›</a:t>
            </a:fld>
            <a:endParaRPr lang="en-I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ABA1CE0F-6577-41F8-900B-53A34AC95C5A}" type="datetimeFigureOut">
              <a:rPr lang="en-IN"/>
              <a:pPr>
                <a:defRPr/>
              </a:pPr>
              <a:t>22-10-2026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B0BE5364-BB9B-481C-BAEF-349CA0041A51}" type="slidenum">
              <a:rPr lang="en-IN" altLang="en-US"/>
              <a:pPr>
                <a:defRPr/>
              </a:pPr>
              <a:t>‹#›</a:t>
            </a:fld>
            <a:endParaRPr lang="en-I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33FDA8CA-A8B8-40C0-BBC6-1606171A1758}" type="datetimeFigureOut">
              <a:rPr lang="en-IN"/>
              <a:pPr>
                <a:defRPr/>
              </a:pPr>
              <a:t>22-10-2026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F309EADA-745D-439B-9D57-289B761E7B2E}" type="slidenum">
              <a:rPr lang="en-IN" altLang="en-US"/>
              <a:pPr>
                <a:defRPr/>
              </a:pPr>
              <a:t>‹#›</a:t>
            </a:fld>
            <a:endParaRPr lang="en-I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219F6730-32BA-4906-99E2-F64ABCD62C6E}" type="datetimeFigureOut">
              <a:rPr lang="en-IN"/>
              <a:pPr>
                <a:defRPr/>
              </a:pPr>
              <a:t>22-10-2026</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C28C82C7-7FF7-4F6D-B9B0-5F6A64294ADD}" type="slidenum">
              <a:rPr lang="en-IN" altLang="en-US"/>
              <a:pPr>
                <a:defRPr/>
              </a:pPr>
              <a:t>‹#›</a:t>
            </a:fld>
            <a:endParaRPr lang="en-I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fld id="{70A6BBC4-5D95-4D66-96C4-B8370F718003}" type="datetimeFigureOut">
              <a:rPr lang="en-IN"/>
              <a:pPr>
                <a:defRPr/>
              </a:pPr>
              <a:t>22-10-2026</a:t>
            </a:fld>
            <a:endParaRPr lang="en-IN"/>
          </a:p>
        </p:txBody>
      </p:sp>
      <p:sp>
        <p:nvSpPr>
          <p:cNvPr id="8" name="Footer Placeholder 4"/>
          <p:cNvSpPr>
            <a:spLocks noGrp="1"/>
          </p:cNvSpPr>
          <p:nvPr>
            <p:ph type="ftr" sz="quarter" idx="11"/>
          </p:nvPr>
        </p:nvSpPr>
        <p:spPr/>
        <p:txBody>
          <a:bodyPr/>
          <a:lstStyle>
            <a:lvl1pPr>
              <a:defRPr/>
            </a:lvl1pPr>
          </a:lstStyle>
          <a:p>
            <a:pPr>
              <a:defRPr/>
            </a:pPr>
            <a:endParaRPr lang="en-IN"/>
          </a:p>
        </p:txBody>
      </p:sp>
      <p:sp>
        <p:nvSpPr>
          <p:cNvPr id="9" name="Slide Number Placeholder 5"/>
          <p:cNvSpPr>
            <a:spLocks noGrp="1"/>
          </p:cNvSpPr>
          <p:nvPr>
            <p:ph type="sldNum" sz="quarter" idx="12"/>
          </p:nvPr>
        </p:nvSpPr>
        <p:spPr/>
        <p:txBody>
          <a:bodyPr/>
          <a:lstStyle>
            <a:lvl1pPr>
              <a:defRPr/>
            </a:lvl1pPr>
          </a:lstStyle>
          <a:p>
            <a:pPr>
              <a:defRPr/>
            </a:pPr>
            <a:fld id="{47FE99A5-9FEF-4AED-99E9-D38177269AE4}" type="slidenum">
              <a:rPr lang="en-IN" altLang="en-US"/>
              <a:pPr>
                <a:defRPr/>
              </a:pPr>
              <a:t>‹#›</a:t>
            </a:fld>
            <a:endParaRPr lang="en-I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032D41FF-56CE-4FCB-9E78-7E9F8CCE3096}" type="datetimeFigureOut">
              <a:rPr lang="en-IN"/>
              <a:pPr>
                <a:defRPr/>
              </a:pPr>
              <a:t>22-10-2026</a:t>
            </a:fld>
            <a:endParaRPr lang="en-IN"/>
          </a:p>
        </p:txBody>
      </p:sp>
      <p:sp>
        <p:nvSpPr>
          <p:cNvPr id="4" name="Footer Placeholder 4"/>
          <p:cNvSpPr>
            <a:spLocks noGrp="1"/>
          </p:cNvSpPr>
          <p:nvPr>
            <p:ph type="ftr" sz="quarter" idx="11"/>
          </p:nvPr>
        </p:nvSpPr>
        <p:spPr/>
        <p:txBody>
          <a:bodyPr/>
          <a:lstStyle>
            <a:lvl1pPr>
              <a:defRPr/>
            </a:lvl1pPr>
          </a:lstStyle>
          <a:p>
            <a:pPr>
              <a:defRPr/>
            </a:pPr>
            <a:endParaRPr lang="en-IN"/>
          </a:p>
        </p:txBody>
      </p:sp>
      <p:sp>
        <p:nvSpPr>
          <p:cNvPr id="5" name="Slide Number Placeholder 5"/>
          <p:cNvSpPr>
            <a:spLocks noGrp="1"/>
          </p:cNvSpPr>
          <p:nvPr>
            <p:ph type="sldNum" sz="quarter" idx="12"/>
          </p:nvPr>
        </p:nvSpPr>
        <p:spPr/>
        <p:txBody>
          <a:bodyPr/>
          <a:lstStyle>
            <a:lvl1pPr>
              <a:defRPr/>
            </a:lvl1pPr>
          </a:lstStyle>
          <a:p>
            <a:pPr>
              <a:defRPr/>
            </a:pPr>
            <a:fld id="{86A86CD5-0C33-412E-90F7-0E8DDBF8A368}" type="slidenum">
              <a:rPr lang="en-IN" altLang="en-US"/>
              <a:pPr>
                <a:defRPr/>
              </a:pPr>
              <a:t>‹#›</a:t>
            </a:fld>
            <a:endParaRPr lang="en-I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4FAA745-2535-4CEC-BAC4-6CE4B50353B0}" type="datetimeFigureOut">
              <a:rPr lang="en-IN"/>
              <a:pPr>
                <a:defRPr/>
              </a:pPr>
              <a:t>22-10-2026</a:t>
            </a:fld>
            <a:endParaRPr lang="en-IN"/>
          </a:p>
        </p:txBody>
      </p:sp>
      <p:sp>
        <p:nvSpPr>
          <p:cNvPr id="3" name="Footer Placeholder 4"/>
          <p:cNvSpPr>
            <a:spLocks noGrp="1"/>
          </p:cNvSpPr>
          <p:nvPr>
            <p:ph type="ftr" sz="quarter" idx="11"/>
          </p:nvPr>
        </p:nvSpPr>
        <p:spPr/>
        <p:txBody>
          <a:bodyPr/>
          <a:lstStyle>
            <a:lvl1pPr>
              <a:defRPr/>
            </a:lvl1pPr>
          </a:lstStyle>
          <a:p>
            <a:pPr>
              <a:defRPr/>
            </a:pPr>
            <a:endParaRPr lang="en-IN"/>
          </a:p>
        </p:txBody>
      </p:sp>
      <p:sp>
        <p:nvSpPr>
          <p:cNvPr id="4" name="Slide Number Placeholder 5"/>
          <p:cNvSpPr>
            <a:spLocks noGrp="1"/>
          </p:cNvSpPr>
          <p:nvPr>
            <p:ph type="sldNum" sz="quarter" idx="12"/>
          </p:nvPr>
        </p:nvSpPr>
        <p:spPr/>
        <p:txBody>
          <a:bodyPr/>
          <a:lstStyle>
            <a:lvl1pPr>
              <a:defRPr/>
            </a:lvl1pPr>
          </a:lstStyle>
          <a:p>
            <a:pPr>
              <a:defRPr/>
            </a:pPr>
            <a:fld id="{462866CC-9135-4A14-9D24-7711FB1921C8}" type="slidenum">
              <a:rPr lang="en-IN" altLang="en-US"/>
              <a:pPr>
                <a:defRPr/>
              </a:pPr>
              <a:t>‹#›</a:t>
            </a:fld>
            <a:endParaRPr lang="en-I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1D36890-8428-4A60-826F-AAA0790E1440}" type="datetimeFigureOut">
              <a:rPr lang="en-IN"/>
              <a:pPr>
                <a:defRPr/>
              </a:pPr>
              <a:t>22-10-2026</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A51928D8-0563-43A9-A9E6-3FA1695974D9}" type="slidenum">
              <a:rPr lang="en-IN" altLang="en-US"/>
              <a:pPr>
                <a:defRPr/>
              </a:pPr>
              <a:t>‹#›</a:t>
            </a:fld>
            <a:endParaRPr lang="en-I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ACE6CBB-BEF0-4E1E-A04E-61C96CB85A52}" type="datetimeFigureOut">
              <a:rPr lang="en-IN"/>
              <a:pPr>
                <a:defRPr/>
              </a:pPr>
              <a:t>22-10-2026</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23B057C1-8D09-4C57-B08D-16DDBFB168C4}" type="slidenum">
              <a:rPr lang="en-IN" altLang="en-US"/>
              <a:pPr>
                <a:defRPr/>
              </a:pPr>
              <a:t>‹#›</a:t>
            </a:fld>
            <a:endParaRPr lang="en-I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CA16AE42-1E4D-421C-B714-96A7ED960456}" type="datetimeFigureOut">
              <a:rPr lang="en-IN"/>
              <a:pPr>
                <a:defRPr/>
              </a:pPr>
              <a:t>22-10-2026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6531BD5C-5385-47B4-AC0A-0CBE10F7BBFE}" type="slidenum">
              <a:rPr lang="en-IN" altLang="en-US"/>
              <a:pPr>
                <a:defRPr/>
              </a:pPr>
              <a:t>‹#›</a:t>
            </a:fld>
            <a:endParaRPr lang="en-I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A7E0A009-3FEE-4B38-8847-95CC991A891B}" type="datetimeFigureOut">
              <a:rPr lang="en-IN"/>
              <a:pPr>
                <a:defRPr/>
              </a:pPr>
              <a:t>22-10-2026</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53F1D80A-2EB8-43C2-8E1D-EFD272A4A20E}" type="slidenum">
              <a:rPr lang="en-IN" altLang="en-US"/>
              <a:pPr>
                <a:defRPr/>
              </a:pPr>
              <a:t>‹#›</a:t>
            </a:fld>
            <a:endParaRPr lang="en-I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5.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357088" y="145801"/>
            <a:ext cx="7578950" cy="8892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spcBef>
                <a:spcPts val="0"/>
              </a:spcBef>
              <a:spcAft>
                <a:spcPts val="0"/>
              </a:spcAft>
              <a:defRPr/>
            </a:pPr>
            <a:endParaRPr lang="en-US" sz="2000" b="1" dirty="0">
              <a:solidFill>
                <a:schemeClr val="bg1"/>
              </a:solidFill>
            </a:endParaRPr>
          </a:p>
        </p:txBody>
      </p:sp>
      <p:sp>
        <p:nvSpPr>
          <p:cNvPr id="2" name="Rectangle 1"/>
          <p:cNvSpPr/>
          <p:nvPr/>
        </p:nvSpPr>
        <p:spPr>
          <a:xfrm>
            <a:off x="-17463" y="6705600"/>
            <a:ext cx="9161463" cy="152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200" dirty="0"/>
              <a:t>MGMCET</a:t>
            </a:r>
          </a:p>
        </p:txBody>
      </p:sp>
      <p:pic>
        <p:nvPicPr>
          <p:cNvPr id="3" name="Picture 2"/>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26001" y="57456"/>
            <a:ext cx="1162800" cy="1107769"/>
          </a:xfrm>
          <a:prstGeom prst="rect">
            <a:avLst/>
          </a:prstGeom>
        </p:spPr>
      </p:pic>
    </p:spTree>
  </p:cSld>
  <p:clrMap bg1="lt1" tx1="dk1" bg2="lt2" tx2="dk2" accent1="accent1" accent2="accent2" accent3="accent3" accent4="accent4" accent5="accent5" accent6="accent6" hlink="hlink" folHlink="folHlink"/>
  <p:sldLayoutIdLst>
    <p:sldLayoutId id="2147492118" r:id="rId1"/>
    <p:sldLayoutId id="2147492119" r:id="rId2"/>
    <p:sldLayoutId id="2147492120" r:id="rId3"/>
    <p:sldLayoutId id="2147492121" r:id="rId4"/>
    <p:sldLayoutId id="2147492122" r:id="rId5"/>
    <p:sldLayoutId id="2147492123" r:id="rId6"/>
    <p:sldLayoutId id="2147492067" r:id="rId7"/>
    <p:sldLayoutId id="2147492124" r:id="rId8"/>
    <p:sldLayoutId id="2147492125" r:id="rId9"/>
    <p:sldLayoutId id="2147492126" r:id="rId10"/>
    <p:sldLayoutId id="2147492127" r:id="rId11"/>
    <p:sldLayoutId id="2147492128" r:id="rId12"/>
    <p:sldLayoutId id="2147492068" r:id="rId13"/>
    <p:sldLayoutId id="2147492069" r:id="rId14"/>
    <p:sldLayoutId id="2147492070" r:id="rId15"/>
    <p:sldLayoutId id="2147492071" r:id="rId16"/>
    <p:sldLayoutId id="2147492072" r:id="rId17"/>
    <p:sldLayoutId id="2147492073" r:id="rId18"/>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noChangeArrowheads="1"/>
          </p:cNvSpPr>
          <p:nvPr>
            <p:ph type="title"/>
          </p:nvPr>
        </p:nvSpPr>
        <p:spPr bwMode="auto">
          <a:xfrm>
            <a:off x="628650" y="365125"/>
            <a:ext cx="78867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noChangeArrowheads="1"/>
          </p:cNvSpPr>
          <p:nvPr>
            <p:ph type="body" idx="1"/>
          </p:nvPr>
        </p:nvSpPr>
        <p:spPr bwMode="auto">
          <a:xfrm>
            <a:off x="628650" y="1825625"/>
            <a:ext cx="78867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mn-cs"/>
              </a:defRPr>
            </a:lvl1pPr>
          </a:lstStyle>
          <a:p>
            <a:pPr>
              <a:defRPr/>
            </a:pPr>
            <a:fld id="{ACFF573B-9A4E-45ED-B9B6-C00D01B43D9E}" type="datetimeFigureOut">
              <a:rPr lang="en-US"/>
              <a:pPr>
                <a:defRPr/>
              </a:pPr>
              <a:t>10/22/2026</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021AB882-1D2B-4A11-AA34-F321EDA5F68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92074" r:id="rId1"/>
    <p:sldLayoutId id="2147492075" r:id="rId2"/>
    <p:sldLayoutId id="2147492076" r:id="rId3"/>
    <p:sldLayoutId id="2147492077" r:id="rId4"/>
    <p:sldLayoutId id="2147492078" r:id="rId5"/>
    <p:sldLayoutId id="2147492079" r:id="rId6"/>
    <p:sldLayoutId id="2147492080" r:id="rId7"/>
    <p:sldLayoutId id="2147492081" r:id="rId8"/>
    <p:sldLayoutId id="2147492082" r:id="rId9"/>
    <p:sldLayoutId id="2147492083" r:id="rId10"/>
    <p:sldLayoutId id="2147492084"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noChangeArrowheads="1"/>
          </p:cNvSpPr>
          <p:nvPr>
            <p:ph type="title"/>
          </p:nvPr>
        </p:nvSpPr>
        <p:spPr bwMode="auto">
          <a:xfrm>
            <a:off x="628650" y="365125"/>
            <a:ext cx="78867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p:cNvSpPr>
            <a:spLocks noGrp="1" noChangeArrowheads="1"/>
          </p:cNvSpPr>
          <p:nvPr>
            <p:ph type="body" idx="1"/>
          </p:nvPr>
        </p:nvSpPr>
        <p:spPr bwMode="auto">
          <a:xfrm>
            <a:off x="628650" y="1825625"/>
            <a:ext cx="78867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mn-cs"/>
              </a:defRPr>
            </a:lvl1pPr>
          </a:lstStyle>
          <a:p>
            <a:pPr>
              <a:defRPr/>
            </a:pPr>
            <a:fld id="{9CFD6038-0150-4BB0-8834-C527723A8623}" type="datetimeFigureOut">
              <a:rPr lang="en-US"/>
              <a:pPr>
                <a:defRPr/>
              </a:pPr>
              <a:t>10/22/2026</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29B8D93A-ABEE-4D31-819B-A110394B5EE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92085" r:id="rId1"/>
    <p:sldLayoutId id="2147492086" r:id="rId2"/>
    <p:sldLayoutId id="2147492087" r:id="rId3"/>
    <p:sldLayoutId id="2147492088" r:id="rId4"/>
    <p:sldLayoutId id="2147492089" r:id="rId5"/>
    <p:sldLayoutId id="2147492090" r:id="rId6"/>
    <p:sldLayoutId id="2147492091" r:id="rId7"/>
    <p:sldLayoutId id="2147492092" r:id="rId8"/>
    <p:sldLayoutId id="2147492093" r:id="rId9"/>
    <p:sldLayoutId id="2147492094" r:id="rId10"/>
    <p:sldLayoutId id="2147492095"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noChangeArrowheads="1"/>
          </p:cNvSpPr>
          <p:nvPr>
            <p:ph type="title"/>
          </p:nvPr>
        </p:nvSpPr>
        <p:spPr bwMode="auto">
          <a:xfrm>
            <a:off x="628650" y="365125"/>
            <a:ext cx="78867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Text Placeholder 2"/>
          <p:cNvSpPr>
            <a:spLocks noGrp="1" noChangeArrowheads="1"/>
          </p:cNvSpPr>
          <p:nvPr>
            <p:ph type="body" idx="1"/>
          </p:nvPr>
        </p:nvSpPr>
        <p:spPr bwMode="auto">
          <a:xfrm>
            <a:off x="628650" y="1825625"/>
            <a:ext cx="78867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mn-cs"/>
              </a:defRPr>
            </a:lvl1pPr>
          </a:lstStyle>
          <a:p>
            <a:pPr>
              <a:defRPr/>
            </a:pPr>
            <a:fld id="{E4D57B10-DEE5-41B1-A96A-68A08065D984}" type="datetimeFigureOut">
              <a:rPr lang="en-US"/>
              <a:pPr>
                <a:defRPr/>
              </a:pPr>
              <a:t>10/22/2026</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mn-cs"/>
              </a:defRPr>
            </a:lvl1pPr>
          </a:lstStyle>
          <a:p>
            <a:pPr>
              <a:defRPr/>
            </a:pP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FEFE18E5-D216-433A-BC0A-B7319AEF419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92096" r:id="rId1"/>
    <p:sldLayoutId id="2147492097" r:id="rId2"/>
    <p:sldLayoutId id="2147492098" r:id="rId3"/>
    <p:sldLayoutId id="2147492099" r:id="rId4"/>
    <p:sldLayoutId id="2147492100" r:id="rId5"/>
    <p:sldLayoutId id="2147492101" r:id="rId6"/>
    <p:sldLayoutId id="2147492102" r:id="rId7"/>
    <p:sldLayoutId id="2147492103" r:id="rId8"/>
    <p:sldLayoutId id="2147492104" r:id="rId9"/>
    <p:sldLayoutId id="2147492105" r:id="rId10"/>
    <p:sldLayoutId id="2147492106"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mn-cs"/>
              </a:defRPr>
            </a:lvl1pPr>
          </a:lstStyle>
          <a:p>
            <a:pPr>
              <a:defRPr/>
            </a:pPr>
            <a:fld id="{77B22A40-76E9-4F2F-8A05-974337FFF048}" type="datetimeFigureOut">
              <a:rPr lang="en-IN"/>
              <a:pPr>
                <a:defRPr/>
              </a:pPr>
              <a:t>22-10-2026</a:t>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mn-cs"/>
              </a:defRPr>
            </a:lvl1pPr>
          </a:lstStyle>
          <a:p>
            <a:pPr>
              <a:defRPr/>
            </a:pPr>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52A05276-C51D-426F-8D6B-7D101200F815}"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92107" r:id="rId1"/>
    <p:sldLayoutId id="2147492108" r:id="rId2"/>
    <p:sldLayoutId id="2147492109" r:id="rId3"/>
    <p:sldLayoutId id="2147492110" r:id="rId4"/>
    <p:sldLayoutId id="2147492111" r:id="rId5"/>
    <p:sldLayoutId id="2147492112" r:id="rId6"/>
    <p:sldLayoutId id="2147492113" r:id="rId7"/>
    <p:sldLayoutId id="2147492114" r:id="rId8"/>
    <p:sldLayoutId id="2147492115" r:id="rId9"/>
    <p:sldLayoutId id="2147492116" r:id="rId10"/>
    <p:sldLayoutId id="2147492117"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11A62-4622-F320-CF13-E0BD25023430}"/>
            </a:ext>
          </a:extLst>
        </p:cNvPr>
        <p:cNvGrpSpPr/>
        <p:nvPr/>
      </p:nvGrpSpPr>
      <p:grpSpPr>
        <a:xfrm>
          <a:off x="0" y="0"/>
          <a:ext cx="0" cy="0"/>
          <a:chOff x="0" y="0"/>
          <a:chExt cx="0" cy="0"/>
        </a:xfrm>
      </p:grpSpPr>
      <p:grpSp>
        <p:nvGrpSpPr>
          <p:cNvPr id="2" name="Group 11">
            <a:extLst>
              <a:ext uri="{FF2B5EF4-FFF2-40B4-BE49-F238E27FC236}">
                <a16:creationId xmlns:a16="http://schemas.microsoft.com/office/drawing/2014/main" id="{20C590A7-8B02-9240-E7B6-B40B0284AA9A}"/>
              </a:ext>
            </a:extLst>
          </p:cNvPr>
          <p:cNvGrpSpPr/>
          <p:nvPr/>
        </p:nvGrpSpPr>
        <p:grpSpPr>
          <a:xfrm>
            <a:off x="297000" y="2115759"/>
            <a:ext cx="8550000" cy="4172400"/>
            <a:chOff x="0" y="0"/>
            <a:chExt cx="12268763" cy="5773012"/>
          </a:xfrm>
        </p:grpSpPr>
        <p:sp>
          <p:nvSpPr>
            <p:cNvPr id="3" name="Freeform 12">
              <a:extLst>
                <a:ext uri="{FF2B5EF4-FFF2-40B4-BE49-F238E27FC236}">
                  <a16:creationId xmlns:a16="http://schemas.microsoft.com/office/drawing/2014/main" id="{1E0FA8B9-D8DE-EA54-D42A-26D741DE9AE4}"/>
                </a:ext>
              </a:extLst>
            </p:cNvPr>
            <p:cNvSpPr/>
            <p:nvPr/>
          </p:nvSpPr>
          <p:spPr>
            <a:xfrm>
              <a:off x="0" y="0"/>
              <a:ext cx="12268708" cy="5773028"/>
            </a:xfrm>
            <a:custGeom>
              <a:avLst/>
              <a:gdLst/>
              <a:ahLst/>
              <a:cxnLst/>
              <a:rect l="l" t="t" r="r" b="b"/>
              <a:pathLst>
                <a:path w="12268708" h="5773028">
                  <a:moveTo>
                    <a:pt x="6731" y="0"/>
                  </a:moveTo>
                  <a:lnTo>
                    <a:pt x="12261977" y="0"/>
                  </a:lnTo>
                  <a:cubicBezTo>
                    <a:pt x="12265660" y="0"/>
                    <a:pt x="12268708" y="3166"/>
                    <a:pt x="12268708" y="6991"/>
                  </a:cubicBezTo>
                  <a:lnTo>
                    <a:pt x="12268708" y="5766038"/>
                  </a:lnTo>
                  <a:cubicBezTo>
                    <a:pt x="12268708" y="5769863"/>
                    <a:pt x="12265660" y="5773028"/>
                    <a:pt x="12261977" y="5773028"/>
                  </a:cubicBezTo>
                  <a:lnTo>
                    <a:pt x="6731" y="5773028"/>
                  </a:lnTo>
                  <a:cubicBezTo>
                    <a:pt x="3048" y="5773028"/>
                    <a:pt x="0" y="5769863"/>
                    <a:pt x="0" y="5766038"/>
                  </a:cubicBezTo>
                  <a:lnTo>
                    <a:pt x="0" y="6991"/>
                  </a:lnTo>
                  <a:cubicBezTo>
                    <a:pt x="0" y="3166"/>
                    <a:pt x="3048" y="0"/>
                    <a:pt x="6731" y="0"/>
                  </a:cubicBezTo>
                  <a:moveTo>
                    <a:pt x="6731" y="14113"/>
                  </a:moveTo>
                  <a:lnTo>
                    <a:pt x="6731" y="6991"/>
                  </a:lnTo>
                  <a:lnTo>
                    <a:pt x="13462" y="6991"/>
                  </a:lnTo>
                  <a:lnTo>
                    <a:pt x="13462" y="5766038"/>
                  </a:lnTo>
                  <a:lnTo>
                    <a:pt x="6731" y="5766038"/>
                  </a:lnTo>
                  <a:lnTo>
                    <a:pt x="6731" y="5759047"/>
                  </a:lnTo>
                  <a:lnTo>
                    <a:pt x="12261977" y="5759047"/>
                  </a:lnTo>
                  <a:lnTo>
                    <a:pt x="12261977" y="5766038"/>
                  </a:lnTo>
                  <a:lnTo>
                    <a:pt x="12255246" y="5766038"/>
                  </a:lnTo>
                  <a:lnTo>
                    <a:pt x="12255246" y="6991"/>
                  </a:lnTo>
                  <a:lnTo>
                    <a:pt x="12261977" y="6991"/>
                  </a:lnTo>
                  <a:lnTo>
                    <a:pt x="12261977" y="13981"/>
                  </a:lnTo>
                  <a:lnTo>
                    <a:pt x="6731" y="13981"/>
                  </a:lnTo>
                  <a:close/>
                </a:path>
              </a:pathLst>
            </a:custGeom>
            <a:solidFill>
              <a:srgbClr val="4F81BD"/>
            </a:solidFill>
          </p:spPr>
        </p:sp>
      </p:grpSp>
      <p:sp>
        <p:nvSpPr>
          <p:cNvPr id="5" name="TextBox 4">
            <a:extLst>
              <a:ext uri="{FF2B5EF4-FFF2-40B4-BE49-F238E27FC236}">
                <a16:creationId xmlns:a16="http://schemas.microsoft.com/office/drawing/2014/main" id="{C7875611-2F14-D622-8E58-0CDE095FB92D}"/>
              </a:ext>
            </a:extLst>
          </p:cNvPr>
          <p:cNvSpPr txBox="1"/>
          <p:nvPr/>
        </p:nvSpPr>
        <p:spPr>
          <a:xfrm>
            <a:off x="379122" y="2491384"/>
            <a:ext cx="8628957" cy="515334"/>
          </a:xfrm>
          <a:prstGeom prst="rect">
            <a:avLst/>
          </a:prstGeom>
          <a:noFill/>
        </p:spPr>
        <p:txBody>
          <a:bodyPr wrap="square">
            <a:spAutoFit/>
          </a:bodyPr>
          <a:lstStyle/>
          <a:p>
            <a:pPr algn="l">
              <a:lnSpc>
                <a:spcPts val="3359"/>
              </a:lnSpc>
            </a:pPr>
            <a:r>
              <a:rPr lang="en-US" sz="2799" b="1" spc="-9" dirty="0">
                <a:solidFill>
                  <a:schemeClr val="accent6">
                    <a:lumMod val="50000"/>
                  </a:schemeClr>
                </a:solidFill>
                <a:latin typeface="Georgia Pro Bold"/>
                <a:ea typeface="Georgia Pro Bold"/>
                <a:cs typeface="Georgia Pro Bold"/>
                <a:sym typeface="Georgia Pro Bold"/>
              </a:rPr>
              <a:t>Roll no.              UID                   Name of students</a:t>
            </a:r>
          </a:p>
        </p:txBody>
      </p:sp>
      <p:sp>
        <p:nvSpPr>
          <p:cNvPr id="7" name="TextBox 6">
            <a:extLst>
              <a:ext uri="{FF2B5EF4-FFF2-40B4-BE49-F238E27FC236}">
                <a16:creationId xmlns:a16="http://schemas.microsoft.com/office/drawing/2014/main" id="{550315BE-2EA6-9888-2E23-5E716FA70D4F}"/>
              </a:ext>
            </a:extLst>
          </p:cNvPr>
          <p:cNvSpPr txBox="1"/>
          <p:nvPr/>
        </p:nvSpPr>
        <p:spPr>
          <a:xfrm>
            <a:off x="719356" y="3300144"/>
            <a:ext cx="7705288" cy="476925"/>
          </a:xfrm>
          <a:prstGeom prst="rect">
            <a:avLst/>
          </a:prstGeom>
          <a:noFill/>
        </p:spPr>
        <p:txBody>
          <a:bodyPr wrap="square">
            <a:spAutoFit/>
          </a:bodyPr>
          <a:lstStyle/>
          <a:p>
            <a:r>
              <a:rPr lang="en-US" sz="2499" spc="-8" dirty="0">
                <a:solidFill>
                  <a:srgbClr val="000000"/>
                </a:solidFill>
                <a:latin typeface="Georgia Pro"/>
                <a:ea typeface="Georgia Pro"/>
                <a:cs typeface="Georgia Pro"/>
                <a:sym typeface="Georgia Pro"/>
              </a:rPr>
              <a:t>28                   123IT1337A                   Yogesh Kumawat</a:t>
            </a:r>
            <a:endParaRPr lang="en-IN" dirty="0"/>
          </a:p>
        </p:txBody>
      </p:sp>
      <p:sp>
        <p:nvSpPr>
          <p:cNvPr id="11" name="TextBox 18">
            <a:extLst>
              <a:ext uri="{FF2B5EF4-FFF2-40B4-BE49-F238E27FC236}">
                <a16:creationId xmlns:a16="http://schemas.microsoft.com/office/drawing/2014/main" id="{EA126153-133F-C726-2DA6-5D06DA79BC9F}"/>
              </a:ext>
            </a:extLst>
          </p:cNvPr>
          <p:cNvSpPr txBox="1"/>
          <p:nvPr/>
        </p:nvSpPr>
        <p:spPr>
          <a:xfrm>
            <a:off x="1288800" y="77400"/>
            <a:ext cx="7737664" cy="986348"/>
          </a:xfrm>
          <a:prstGeom prst="rect">
            <a:avLst/>
          </a:prstGeom>
        </p:spPr>
        <p:txBody>
          <a:bodyPr lIns="50800" tIns="50800" rIns="50800" bIns="50800" rtlCol="0" anchor="ctr"/>
          <a:lstStyle/>
          <a:p>
            <a:pPr algn="ctr">
              <a:lnSpc>
                <a:spcPts val="2175"/>
              </a:lnSpc>
            </a:pPr>
            <a:r>
              <a:rPr lang="en-US" sz="1600" b="1" dirty="0">
                <a:solidFill>
                  <a:srgbClr val="000000"/>
                </a:solidFill>
                <a:latin typeface="Times New Roman Bold"/>
                <a:ea typeface="Times New Roman Bold"/>
                <a:cs typeface="Times New Roman Bold"/>
                <a:sym typeface="Times New Roman Bold"/>
              </a:rPr>
              <a:t>MGM's College of Engineering and Technology </a:t>
            </a:r>
            <a:r>
              <a:rPr lang="en-US" sz="1600" b="1" dirty="0" err="1">
                <a:solidFill>
                  <a:srgbClr val="000000"/>
                </a:solidFill>
                <a:latin typeface="Times New Roman Bold"/>
                <a:ea typeface="Times New Roman Bold"/>
                <a:cs typeface="Times New Roman Bold"/>
                <a:sym typeface="Times New Roman Bold"/>
              </a:rPr>
              <a:t>Kamothe</a:t>
            </a:r>
            <a:r>
              <a:rPr lang="en-US" sz="1600" b="1" dirty="0">
                <a:solidFill>
                  <a:srgbClr val="000000"/>
                </a:solidFill>
                <a:latin typeface="Times New Roman Bold"/>
                <a:ea typeface="Times New Roman Bold"/>
                <a:cs typeface="Times New Roman Bold"/>
                <a:sym typeface="Times New Roman Bold"/>
              </a:rPr>
              <a:t>, Navi Mumbai – 410 209 Department of Information Technology</a:t>
            </a:r>
          </a:p>
          <a:p>
            <a:pPr algn="ctr">
              <a:lnSpc>
                <a:spcPts val="2175"/>
              </a:lnSpc>
            </a:pPr>
            <a:r>
              <a:rPr lang="en-US" sz="1600" b="1" spc="-26" dirty="0">
                <a:solidFill>
                  <a:srgbClr val="000000"/>
                </a:solidFill>
                <a:latin typeface="Times New Roman Bold"/>
                <a:ea typeface="Times New Roman Bold"/>
                <a:cs typeface="Times New Roman Bold"/>
                <a:sym typeface="Times New Roman Bold"/>
              </a:rPr>
              <a:t>A.Y.2026-27</a:t>
            </a:r>
          </a:p>
        </p:txBody>
      </p:sp>
      <p:sp>
        <p:nvSpPr>
          <p:cNvPr id="6" name="TextBox 22">
            <a:extLst>
              <a:ext uri="{FF2B5EF4-FFF2-40B4-BE49-F238E27FC236}">
                <a16:creationId xmlns:a16="http://schemas.microsoft.com/office/drawing/2014/main" id="{396D9FFD-BCCD-68AF-CECE-BF2B9D22D569}"/>
              </a:ext>
            </a:extLst>
          </p:cNvPr>
          <p:cNvSpPr txBox="1"/>
          <p:nvPr/>
        </p:nvSpPr>
        <p:spPr>
          <a:xfrm>
            <a:off x="719356" y="3927887"/>
            <a:ext cx="7705288" cy="374270"/>
          </a:xfrm>
          <a:prstGeom prst="rect">
            <a:avLst/>
          </a:prstGeom>
        </p:spPr>
        <p:txBody>
          <a:bodyPr wrap="square" lIns="0" tIns="0" rIns="0" bIns="0" rtlCol="0" anchor="t">
            <a:spAutoFit/>
          </a:bodyPr>
          <a:lstStyle/>
          <a:p>
            <a:pPr algn="l">
              <a:lnSpc>
                <a:spcPts val="2999"/>
              </a:lnSpc>
            </a:pPr>
            <a:r>
              <a:rPr lang="en-US" sz="2499" spc="-8" dirty="0">
                <a:solidFill>
                  <a:srgbClr val="000000"/>
                </a:solidFill>
                <a:latin typeface="Georgia Pro"/>
                <a:ea typeface="Georgia Pro"/>
                <a:cs typeface="Georgia Pro"/>
                <a:sym typeface="Georgia Pro"/>
              </a:rPr>
              <a:t> 27                   123IT1185A                   Gaurav </a:t>
            </a:r>
            <a:r>
              <a:rPr lang="en-US" sz="2499" spc="-8" dirty="0" err="1">
                <a:solidFill>
                  <a:srgbClr val="000000"/>
                </a:solidFill>
                <a:latin typeface="Georgia Pro"/>
                <a:ea typeface="Georgia Pro"/>
                <a:cs typeface="Georgia Pro"/>
                <a:sym typeface="Georgia Pro"/>
              </a:rPr>
              <a:t>Kudake</a:t>
            </a:r>
            <a:endParaRPr lang="en-US" sz="2499" spc="-8" dirty="0">
              <a:solidFill>
                <a:srgbClr val="000000"/>
              </a:solidFill>
              <a:latin typeface="Georgia Pro"/>
              <a:ea typeface="Georgia Pro"/>
              <a:cs typeface="Georgia Pro"/>
              <a:sym typeface="Georgia Pro"/>
            </a:endParaRPr>
          </a:p>
        </p:txBody>
      </p:sp>
      <p:sp>
        <p:nvSpPr>
          <p:cNvPr id="9" name="TextBox 23">
            <a:extLst>
              <a:ext uri="{FF2B5EF4-FFF2-40B4-BE49-F238E27FC236}">
                <a16:creationId xmlns:a16="http://schemas.microsoft.com/office/drawing/2014/main" id="{C6AE65ED-9967-14AA-6158-46EBC4CF5D60}"/>
              </a:ext>
            </a:extLst>
          </p:cNvPr>
          <p:cNvSpPr txBox="1"/>
          <p:nvPr/>
        </p:nvSpPr>
        <p:spPr>
          <a:xfrm>
            <a:off x="719356" y="4470812"/>
            <a:ext cx="7705288" cy="381000"/>
          </a:xfrm>
          <a:prstGeom prst="rect">
            <a:avLst/>
          </a:prstGeom>
        </p:spPr>
        <p:txBody>
          <a:bodyPr wrap="square" lIns="0" tIns="0" rIns="0" bIns="0" rtlCol="0" anchor="t">
            <a:spAutoFit/>
          </a:bodyPr>
          <a:lstStyle/>
          <a:p>
            <a:pPr>
              <a:lnSpc>
                <a:spcPts val="2999"/>
              </a:lnSpc>
            </a:pPr>
            <a:r>
              <a:rPr lang="en-US" sz="2499" spc="-8" dirty="0">
                <a:solidFill>
                  <a:srgbClr val="000000"/>
                </a:solidFill>
                <a:latin typeface="Georgia Pro"/>
                <a:ea typeface="Georgia Pro"/>
                <a:cs typeface="Georgia Pro"/>
                <a:sym typeface="Georgia Pro"/>
              </a:rPr>
              <a:t> 26                   124IT3253A                   Aniket Kolekar</a:t>
            </a:r>
          </a:p>
        </p:txBody>
      </p:sp>
      <p:sp>
        <p:nvSpPr>
          <p:cNvPr id="12" name="TextBox 14">
            <a:extLst>
              <a:ext uri="{FF2B5EF4-FFF2-40B4-BE49-F238E27FC236}">
                <a16:creationId xmlns:a16="http://schemas.microsoft.com/office/drawing/2014/main" id="{2FC13C51-0B74-041E-EF8D-68A258FDA529}"/>
              </a:ext>
            </a:extLst>
          </p:cNvPr>
          <p:cNvSpPr txBox="1"/>
          <p:nvPr/>
        </p:nvSpPr>
        <p:spPr>
          <a:xfrm>
            <a:off x="2725200" y="5281378"/>
            <a:ext cx="3936803" cy="782359"/>
          </a:xfrm>
          <a:prstGeom prst="rect">
            <a:avLst/>
          </a:prstGeom>
        </p:spPr>
        <p:txBody>
          <a:bodyPr lIns="0" tIns="0" rIns="0" bIns="0" rtlCol="0" anchor="t">
            <a:spAutoFit/>
          </a:bodyPr>
          <a:lstStyle/>
          <a:p>
            <a:pPr algn="ctr">
              <a:lnSpc>
                <a:spcPts val="2805"/>
              </a:lnSpc>
            </a:pPr>
            <a:r>
              <a:rPr lang="en-US" sz="2346" b="1" dirty="0">
                <a:solidFill>
                  <a:srgbClr val="000000"/>
                </a:solidFill>
                <a:latin typeface="Georgia Pro Bold"/>
                <a:ea typeface="Georgia Pro Bold"/>
                <a:cs typeface="Georgia Pro Bold"/>
                <a:sym typeface="Georgia Pro Bold"/>
              </a:rPr>
              <a:t>Under the guidance of</a:t>
            </a:r>
          </a:p>
          <a:p>
            <a:pPr algn="ctr">
              <a:lnSpc>
                <a:spcPts val="3334"/>
              </a:lnSpc>
            </a:pPr>
            <a:r>
              <a:rPr lang="en-US" sz="2786" b="1" dirty="0">
                <a:solidFill>
                  <a:schemeClr val="accent6">
                    <a:lumMod val="50000"/>
                  </a:schemeClr>
                </a:solidFill>
                <a:latin typeface="Georgia Pro Bold"/>
                <a:ea typeface="Georgia Pro Bold"/>
                <a:cs typeface="Georgia Pro Bold"/>
                <a:sym typeface="Georgia Pro Bold"/>
              </a:rPr>
              <a:t>Mrs. </a:t>
            </a:r>
            <a:r>
              <a:rPr lang="en-US" sz="2786" b="1" dirty="0" err="1">
                <a:solidFill>
                  <a:schemeClr val="accent6">
                    <a:lumMod val="50000"/>
                  </a:schemeClr>
                </a:solidFill>
                <a:latin typeface="Georgia Pro Bold"/>
                <a:ea typeface="Georgia Pro Bold"/>
                <a:cs typeface="Georgia Pro Bold"/>
                <a:sym typeface="Georgia Pro Bold"/>
              </a:rPr>
              <a:t>Mitrakshi</a:t>
            </a:r>
            <a:r>
              <a:rPr lang="en-US" sz="2786" b="1" dirty="0">
                <a:solidFill>
                  <a:schemeClr val="accent6">
                    <a:lumMod val="50000"/>
                  </a:schemeClr>
                </a:solidFill>
                <a:latin typeface="Georgia Pro Bold"/>
                <a:ea typeface="Georgia Pro Bold"/>
                <a:cs typeface="Georgia Pro Bold"/>
                <a:sym typeface="Georgia Pro Bold"/>
              </a:rPr>
              <a:t> Patil</a:t>
            </a:r>
          </a:p>
        </p:txBody>
      </p:sp>
      <p:sp>
        <p:nvSpPr>
          <p:cNvPr id="4" name="TextBox 3">
            <a:extLst>
              <a:ext uri="{FF2B5EF4-FFF2-40B4-BE49-F238E27FC236}">
                <a16:creationId xmlns:a16="http://schemas.microsoft.com/office/drawing/2014/main" id="{6DDA76D9-602A-6F1B-6E22-B3F22FDC4DEB}"/>
              </a:ext>
            </a:extLst>
          </p:cNvPr>
          <p:cNvSpPr txBox="1"/>
          <p:nvPr/>
        </p:nvSpPr>
        <p:spPr>
          <a:xfrm>
            <a:off x="1246795" y="1358921"/>
            <a:ext cx="6650410"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Fire Department Inspection &amp; NoC Management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9898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76EA1-0C89-13E1-F211-1C43AB91A3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30C6E1-C0A0-D6E5-C9AA-58C36CB15C97}"/>
              </a:ext>
            </a:extLst>
          </p:cNvPr>
          <p:cNvSpPr txBox="1"/>
          <p:nvPr/>
        </p:nvSpPr>
        <p:spPr>
          <a:xfrm>
            <a:off x="4505448" y="351000"/>
            <a:ext cx="1106393"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Outline</a:t>
            </a:r>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D4BC2ED-6678-320B-7364-182C5E9FB779}"/>
              </a:ext>
            </a:extLst>
          </p:cNvPr>
          <p:cNvSpPr txBox="1"/>
          <p:nvPr/>
        </p:nvSpPr>
        <p:spPr>
          <a:xfrm>
            <a:off x="1288800" y="1445400"/>
            <a:ext cx="3556800" cy="480131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Introduction</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Literature Survey</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Problem Statement</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Objectives</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Features</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System</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Conclusion</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References</a:t>
            </a: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7831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34247-2EBB-F645-C8FC-8FC6C39B99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8911F5-2905-4E83-05FD-4C07D42AF0E4}"/>
              </a:ext>
            </a:extLst>
          </p:cNvPr>
          <p:cNvSpPr txBox="1"/>
          <p:nvPr/>
        </p:nvSpPr>
        <p:spPr>
          <a:xfrm>
            <a:off x="4206484" y="351000"/>
            <a:ext cx="1704313"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657C8FA8-3274-882D-149B-4CD484EB4492}"/>
              </a:ext>
            </a:extLst>
          </p:cNvPr>
          <p:cNvSpPr txBox="1"/>
          <p:nvPr/>
        </p:nvSpPr>
        <p:spPr>
          <a:xfrm>
            <a:off x="399600" y="1558295"/>
            <a:ext cx="8344800" cy="3741409"/>
          </a:xfrm>
          <a:prstGeom prst="rect">
            <a:avLst/>
          </a:prstGeom>
          <a:noFill/>
        </p:spPr>
        <p:txBody>
          <a:bodyPr wrap="square" rtlCol="0">
            <a:spAutoFit/>
          </a:bodyPr>
          <a:lstStyle/>
          <a:p>
            <a:pPr>
              <a:lnSpc>
                <a:spcPct val="150000"/>
              </a:lnSpc>
            </a:pPr>
            <a:r>
              <a:rPr lang="en-IN" sz="1600" dirty="0">
                <a:latin typeface="Times New Roman" panose="02020603050405020304" pitchFamily="18" charset="0"/>
                <a:cs typeface="Times New Roman" panose="02020603050405020304" pitchFamily="18" charset="0"/>
              </a:rPr>
              <a:t>Fire safety is an essential requirement for protecting human lives, property, and the environment from fire-related hazards. However, managing fire department inspections and No Objection Certificates (NoC) through traditional methods can be time-consuming, complex, and prone to errors. Manual verification of documents, inspection scheduling, and tracking application status can cause delays and inefficiencies. </a:t>
            </a:r>
          </a:p>
          <a:p>
            <a:pPr>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Therefore, the </a:t>
            </a:r>
            <a:r>
              <a:rPr lang="en-IN" sz="1600" b="1" dirty="0">
                <a:latin typeface="Times New Roman" panose="02020603050405020304" pitchFamily="18" charset="0"/>
                <a:cs typeface="Times New Roman" panose="02020603050405020304" pitchFamily="18" charset="0"/>
              </a:rPr>
              <a:t>Fire Department Inspection &amp; NoC Management System</a:t>
            </a:r>
            <a:r>
              <a:rPr lang="en-IN" sz="1600" dirty="0">
                <a:latin typeface="Times New Roman" panose="02020603050405020304" pitchFamily="18" charset="0"/>
                <a:cs typeface="Times New Roman" panose="02020603050405020304" pitchFamily="18" charset="0"/>
              </a:rPr>
              <a:t> aims to streamline and digitize the entire process. It provides a centralized platform for application management, document verification, inspection scheduling, and NoC tracking, improving transparency, reducing administrative workload, and ensuring a more efficient and reliable fire safety approval process.</a:t>
            </a:r>
          </a:p>
        </p:txBody>
      </p:sp>
    </p:spTree>
    <p:extLst>
      <p:ext uri="{BB962C8B-B14F-4D97-AF65-F5344CB8AC3E}">
        <p14:creationId xmlns:p14="http://schemas.microsoft.com/office/powerpoint/2010/main" val="2423550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83A4-CCAE-3856-09A7-9D66EE821E8D}"/>
            </a:ext>
          </a:extLst>
        </p:cNvPr>
        <p:cNvGrpSpPr/>
        <p:nvPr/>
      </p:nvGrpSpPr>
      <p:grpSpPr>
        <a:xfrm>
          <a:off x="0" y="0"/>
          <a:ext cx="0" cy="0"/>
          <a:chOff x="0" y="0"/>
          <a:chExt cx="0" cy="0"/>
        </a:xfrm>
      </p:grpSpPr>
      <p:sp>
        <p:nvSpPr>
          <p:cNvPr id="18435" name="Slide Number Placeholder 4">
            <a:extLst>
              <a:ext uri="{FF2B5EF4-FFF2-40B4-BE49-F238E27FC236}">
                <a16:creationId xmlns:a16="http://schemas.microsoft.com/office/drawing/2014/main" id="{3C7A4BED-041D-222F-129F-3DFA14D5DAA9}"/>
              </a:ext>
            </a:extLst>
          </p:cNvPr>
          <p:cNvSpPr>
            <a:spLocks noGrp="1"/>
          </p:cNvSpPr>
          <p:nvPr>
            <p:ph type="sldNum" sz="quarter" idx="4294967295"/>
          </p:nvPr>
        </p:nvSpPr>
        <p:spPr bwMode="auto">
          <a:xfrm>
            <a:off x="7010400" y="6356350"/>
            <a:ext cx="2133600" cy="365125"/>
          </a:xfrm>
          <a:prstGeom prst="rect">
            <a:avLst/>
          </a:prstGeom>
          <a:noFill/>
          <a:ln>
            <a:miter lim="800000"/>
            <a:headEnd/>
            <a:tailEnd/>
          </a:ln>
        </p:spPr>
        <p:txBody>
          <a:bodyPr/>
          <a:lstStyle/>
          <a:p>
            <a:fld id="{C3D033E1-F08F-4BAD-B998-B91064587D12}" type="slidenum">
              <a:rPr lang="en-IN" altLang="en-US" sz="1200" smtClean="0">
                <a:solidFill>
                  <a:srgbClr val="FFFFFF"/>
                </a:solidFill>
                <a:latin typeface="Franklin Gothic Book" pitchFamily="34" charset="0"/>
              </a:rPr>
              <a:pPr/>
              <a:t>4</a:t>
            </a:fld>
            <a:endParaRPr lang="en-IN" altLang="en-US" sz="1200">
              <a:solidFill>
                <a:srgbClr val="FFFFFF"/>
              </a:solidFill>
              <a:latin typeface="Franklin Gothic Book" pitchFamily="34" charset="0"/>
            </a:endParaRPr>
          </a:p>
        </p:txBody>
      </p:sp>
      <p:sp>
        <p:nvSpPr>
          <p:cNvPr id="2" name="TextBox 1">
            <a:extLst>
              <a:ext uri="{FF2B5EF4-FFF2-40B4-BE49-F238E27FC236}">
                <a16:creationId xmlns:a16="http://schemas.microsoft.com/office/drawing/2014/main" id="{AC571777-427F-51F8-D55A-F9AFA930667F}"/>
              </a:ext>
            </a:extLst>
          </p:cNvPr>
          <p:cNvSpPr txBox="1"/>
          <p:nvPr/>
        </p:nvSpPr>
        <p:spPr>
          <a:xfrm>
            <a:off x="3484455" y="368577"/>
            <a:ext cx="2420856"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D203F2F-4D64-7E65-87B7-A0A20BABBC2E}"/>
              </a:ext>
            </a:extLst>
          </p:cNvPr>
          <p:cNvGraphicFramePr>
            <a:graphicFrameLocks noGrp="1"/>
          </p:cNvGraphicFramePr>
          <p:nvPr>
            <p:extLst>
              <p:ext uri="{D42A27DB-BD31-4B8C-83A1-F6EECF244321}">
                <p14:modId xmlns:p14="http://schemas.microsoft.com/office/powerpoint/2010/main" val="723728330"/>
              </p:ext>
            </p:extLst>
          </p:nvPr>
        </p:nvGraphicFramePr>
        <p:xfrm>
          <a:off x="399600" y="1299524"/>
          <a:ext cx="8344800" cy="5116632"/>
        </p:xfrm>
        <a:graphic>
          <a:graphicData uri="http://schemas.openxmlformats.org/drawingml/2006/table">
            <a:tbl>
              <a:tblPr firstRow="1" firstCol="1" bandRow="1">
                <a:tableStyleId>{5C22544A-7EE6-4342-B048-85BDC9FD1C3A}</a:tableStyleId>
              </a:tblPr>
              <a:tblGrid>
                <a:gridCol w="330000">
                  <a:extLst>
                    <a:ext uri="{9D8B030D-6E8A-4147-A177-3AD203B41FA5}">
                      <a16:colId xmlns:a16="http://schemas.microsoft.com/office/drawing/2014/main" val="75903226"/>
                    </a:ext>
                  </a:extLst>
                </a:gridCol>
                <a:gridCol w="1330000">
                  <a:extLst>
                    <a:ext uri="{9D8B030D-6E8A-4147-A177-3AD203B41FA5}">
                      <a16:colId xmlns:a16="http://schemas.microsoft.com/office/drawing/2014/main" val="606513839"/>
                    </a:ext>
                  </a:extLst>
                </a:gridCol>
                <a:gridCol w="900000">
                  <a:extLst>
                    <a:ext uri="{9D8B030D-6E8A-4147-A177-3AD203B41FA5}">
                      <a16:colId xmlns:a16="http://schemas.microsoft.com/office/drawing/2014/main" val="3345770449"/>
                    </a:ext>
                  </a:extLst>
                </a:gridCol>
                <a:gridCol w="1000000">
                  <a:extLst>
                    <a:ext uri="{9D8B030D-6E8A-4147-A177-3AD203B41FA5}">
                      <a16:colId xmlns:a16="http://schemas.microsoft.com/office/drawing/2014/main" val="595812218"/>
                    </a:ext>
                  </a:extLst>
                </a:gridCol>
                <a:gridCol w="1520000">
                  <a:extLst>
                    <a:ext uri="{9D8B030D-6E8A-4147-A177-3AD203B41FA5}">
                      <a16:colId xmlns:a16="http://schemas.microsoft.com/office/drawing/2014/main" val="3239940121"/>
                    </a:ext>
                  </a:extLst>
                </a:gridCol>
                <a:gridCol w="1700000">
                  <a:extLst>
                    <a:ext uri="{9D8B030D-6E8A-4147-A177-3AD203B41FA5}">
                      <a16:colId xmlns:a16="http://schemas.microsoft.com/office/drawing/2014/main" val="771045798"/>
                    </a:ext>
                  </a:extLst>
                </a:gridCol>
                <a:gridCol w="1564800">
                  <a:extLst>
                    <a:ext uri="{9D8B030D-6E8A-4147-A177-3AD203B41FA5}">
                      <a16:colId xmlns:a16="http://schemas.microsoft.com/office/drawing/2014/main" val="1234567891"/>
                    </a:ext>
                  </a:extLst>
                </a:gridCol>
              </a:tblGrid>
              <a:tr h="562920">
                <a:tc>
                  <a:txBody>
                    <a:bodyPr/>
                    <a:lstStyle/>
                    <a:p>
                      <a:pPr algn="ctr">
                        <a:lnSpc>
                          <a:spcPct val="100000"/>
                        </a:lnSpc>
                        <a:spcAft>
                          <a:spcPts val="0"/>
                        </a:spcAft>
                        <a:buNone/>
                      </a:pPr>
                      <a:r>
                        <a:rPr lang="en-IN" sz="1100" b="0" kern="100" dirty="0">
                          <a:solidFill>
                            <a:schemeClr val="tx1"/>
                          </a:solidFill>
                          <a:effectLst/>
                          <a:latin typeface="Times New Roman" panose="02020603050405020304" pitchFamily="18" charset="0"/>
                          <a:cs typeface="Times New Roman" panose="02020603050405020304" pitchFamily="18" charset="0"/>
                        </a:rPr>
                        <a:t>Sr. No.</a:t>
                      </a:r>
                      <a:endPar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dirty="0">
                          <a:solidFill>
                            <a:schemeClr val="tx1"/>
                          </a:solidFill>
                          <a:effectLst/>
                          <a:latin typeface="Times New Roman" panose="02020603050405020304" pitchFamily="18" charset="0"/>
                          <a:cs typeface="Times New Roman" panose="02020603050405020304" pitchFamily="18" charset="0"/>
                        </a:rPr>
                        <a:t>Title / Source</a:t>
                      </a:r>
                      <a:endPar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Authors, Year</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Objective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Method / Technique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Key Findings</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Limitation / Gap for SmartFire-NOC</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5840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1</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[1] The Maharashtra Fire Prevention and Life Safety Measures Act, 2006 (Mah. Act No. III of 2007), as amended incl. Mah. Act No. 24 of 2023</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Government of Maharashtra, 2006 (amended 2023)</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Legal framework for fire prevention and life safety in listed buildings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Statute: Provisional and Final Fire Safety Approval, and renewal, from the Chief Fire Officer or the Director</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Provisional approval is given at building-plan stage before construction. Final approval is issued after verifying that measures conform to the provisional approval, before the completion or occupancy certificate</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Legal text, not a software system. Checklist rules must be extracted from the official source and validated, not written from memory</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5840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2</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[2] DIGIT Fire NOC</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eGovernments Foundation, undated web documentation</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Online Fire NOC application and processing</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Role-based workflow with document scrutiny, field inspection and approval; fee payment; status dashboards; application history; QR-code certificates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Shows that digitizing submission, payment and tracking of Fire NOCs is feasible</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Public description emphasizes submission and tracking. It does not describe document-consistency checks, drawing analysis or tamper-evident auditing (internal features not claimed to be absent)</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744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3</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[3] Comprehensive online application for Fire Department (Telangana)</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Centre for Good Governance, Hyderabad, undated web page</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Let applicants request fire services online instead of visiting offices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Online provisional NOC, occupancy NOC and renewal; inspection reports visible to applicants; SMS alerts</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Online services and visible inspection status are workable in a state fire department</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200" b="0" kern="100" dirty="0">
                          <a:solidFill>
                            <a:schemeClr val="tx1"/>
                          </a:solidFill>
                          <a:effectLst/>
                          <a:latin typeface="Times New Roman" panose="02020603050405020304" pitchFamily="18" charset="0"/>
                          <a:cs typeface="Times New Roman" panose="02020603050405020304" pitchFamily="18" charset="0"/>
                        </a:rPr>
                        <a:t>No decision-support analytics described</a:t>
                      </a: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42405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83A4-CCAE-3856-09A7-9D66EE821E8D}"/>
            </a:ext>
          </a:extLst>
        </p:cNvPr>
        <p:cNvGrpSpPr/>
        <p:nvPr/>
      </p:nvGrpSpPr>
      <p:grpSpPr>
        <a:xfrm>
          <a:off x="0" y="0"/>
          <a:ext cx="0" cy="0"/>
          <a:chOff x="0" y="0"/>
          <a:chExt cx="0" cy="0"/>
        </a:xfrm>
      </p:grpSpPr>
      <p:sp>
        <p:nvSpPr>
          <p:cNvPr id="18435" name="Slide Number Placeholder 4">
            <a:extLst>
              <a:ext uri="{FF2B5EF4-FFF2-40B4-BE49-F238E27FC236}">
                <a16:creationId xmlns:a16="http://schemas.microsoft.com/office/drawing/2014/main" id="{3C7A4BED-041D-222F-129F-3DFA14D5DAA9}"/>
              </a:ext>
            </a:extLst>
          </p:cNvPr>
          <p:cNvSpPr>
            <a:spLocks noGrp="1"/>
          </p:cNvSpPr>
          <p:nvPr>
            <p:ph type="sldNum" sz="quarter" idx="4294967295"/>
          </p:nvPr>
        </p:nvSpPr>
        <p:spPr bwMode="auto">
          <a:xfrm>
            <a:off x="7010400" y="6356350"/>
            <a:ext cx="2133600" cy="365125"/>
          </a:xfrm>
          <a:prstGeom prst="rect">
            <a:avLst/>
          </a:prstGeom>
          <a:noFill/>
          <a:ln>
            <a:miter lim="800000"/>
            <a:headEnd/>
            <a:tailEnd/>
          </a:ln>
        </p:spPr>
        <p:txBody>
          <a:bodyPr/>
          <a:lstStyle/>
          <a:p>
            <a:fld id="{C3D033E1-F08F-4BAD-B998-B91064587D12}" type="slidenum">
              <a:rPr lang="en-IN" altLang="en-US" sz="1200" smtClean="0">
                <a:solidFill>
                  <a:srgbClr val="FFFFFF"/>
                </a:solidFill>
                <a:latin typeface="Franklin Gothic Book" pitchFamily="34" charset="0"/>
              </a:rPr>
              <a:pPr/>
              <a:t>5</a:t>
            </a:fld>
            <a:endParaRPr lang="en-IN" altLang="en-US" sz="1200">
              <a:solidFill>
                <a:srgbClr val="FFFFFF"/>
              </a:solidFill>
              <a:latin typeface="Franklin Gothic Book" pitchFamily="34" charset="0"/>
            </a:endParaRPr>
          </a:p>
        </p:txBody>
      </p:sp>
      <p:sp>
        <p:nvSpPr>
          <p:cNvPr id="2" name="TextBox 1">
            <a:extLst>
              <a:ext uri="{FF2B5EF4-FFF2-40B4-BE49-F238E27FC236}">
                <a16:creationId xmlns:a16="http://schemas.microsoft.com/office/drawing/2014/main" id="{AC571777-427F-51F8-D55A-F9AFA930667F}"/>
              </a:ext>
            </a:extLst>
          </p:cNvPr>
          <p:cNvSpPr txBox="1"/>
          <p:nvPr/>
        </p:nvSpPr>
        <p:spPr>
          <a:xfrm>
            <a:off x="3484455" y="368577"/>
            <a:ext cx="2420856"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D203F2F-4D64-7E65-87B7-A0A20BABBC2E}"/>
              </a:ext>
            </a:extLst>
          </p:cNvPr>
          <p:cNvGraphicFramePr>
            <a:graphicFrameLocks noGrp="1"/>
          </p:cNvGraphicFramePr>
          <p:nvPr>
            <p:extLst>
              <p:ext uri="{D42A27DB-BD31-4B8C-83A1-F6EECF244321}">
                <p14:modId xmlns:p14="http://schemas.microsoft.com/office/powerpoint/2010/main" val="1292936880"/>
              </p:ext>
            </p:extLst>
          </p:nvPr>
        </p:nvGraphicFramePr>
        <p:xfrm>
          <a:off x="399600" y="1299524"/>
          <a:ext cx="8344800" cy="3333720"/>
        </p:xfrm>
        <a:graphic>
          <a:graphicData uri="http://schemas.openxmlformats.org/drawingml/2006/table">
            <a:tbl>
              <a:tblPr firstRow="1" firstCol="1" bandRow="1">
                <a:tableStyleId>{5C22544A-7EE6-4342-B048-85BDC9FD1C3A}</a:tableStyleId>
              </a:tblPr>
              <a:tblGrid>
                <a:gridCol w="330000">
                  <a:extLst>
                    <a:ext uri="{9D8B030D-6E8A-4147-A177-3AD203B41FA5}">
                      <a16:colId xmlns:a16="http://schemas.microsoft.com/office/drawing/2014/main" val="75903226"/>
                    </a:ext>
                  </a:extLst>
                </a:gridCol>
                <a:gridCol w="1330000">
                  <a:extLst>
                    <a:ext uri="{9D8B030D-6E8A-4147-A177-3AD203B41FA5}">
                      <a16:colId xmlns:a16="http://schemas.microsoft.com/office/drawing/2014/main" val="606513839"/>
                    </a:ext>
                  </a:extLst>
                </a:gridCol>
                <a:gridCol w="900000">
                  <a:extLst>
                    <a:ext uri="{9D8B030D-6E8A-4147-A177-3AD203B41FA5}">
                      <a16:colId xmlns:a16="http://schemas.microsoft.com/office/drawing/2014/main" val="3345770449"/>
                    </a:ext>
                  </a:extLst>
                </a:gridCol>
                <a:gridCol w="1000000">
                  <a:extLst>
                    <a:ext uri="{9D8B030D-6E8A-4147-A177-3AD203B41FA5}">
                      <a16:colId xmlns:a16="http://schemas.microsoft.com/office/drawing/2014/main" val="595812218"/>
                    </a:ext>
                  </a:extLst>
                </a:gridCol>
                <a:gridCol w="1520000">
                  <a:extLst>
                    <a:ext uri="{9D8B030D-6E8A-4147-A177-3AD203B41FA5}">
                      <a16:colId xmlns:a16="http://schemas.microsoft.com/office/drawing/2014/main" val="3239940121"/>
                    </a:ext>
                  </a:extLst>
                </a:gridCol>
                <a:gridCol w="1700000">
                  <a:extLst>
                    <a:ext uri="{9D8B030D-6E8A-4147-A177-3AD203B41FA5}">
                      <a16:colId xmlns:a16="http://schemas.microsoft.com/office/drawing/2014/main" val="771045798"/>
                    </a:ext>
                  </a:extLst>
                </a:gridCol>
                <a:gridCol w="1564800">
                  <a:extLst>
                    <a:ext uri="{9D8B030D-6E8A-4147-A177-3AD203B41FA5}">
                      <a16:colId xmlns:a16="http://schemas.microsoft.com/office/drawing/2014/main" val="1234567891"/>
                    </a:ext>
                  </a:extLst>
                </a:gridCol>
              </a:tblGrid>
              <a:tr h="562920">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Sr. No.</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Title / Source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Authors, Year</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Objective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Method / Technique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Key Findings</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Limitation / Gap for SmartFire-NOC</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744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4</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[4] Firebird: Predicting fire risk and prioritizing fire inspections in Atlanta</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Madaio et al., ACM SIGKDD, 2016</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Prioritize commercial properties for inspection</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Machine learning (SVM, Random Forest), geocoding, information visualization, interactive map</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Risk scores for 5,000+ buildings, true positive rate up to 71% in predicting fires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Selects properties by predicted fire risk from historical data. Does not manage an application queue or the NOC workflow</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8220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5</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[5] Data-driven structural fire risk prediction for city properties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Dey and Fern, AAAI, 2024</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Decide which properties to inspect with limited resources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XGBoost on data of 72,000+ properties from a South Dakota fire department; feature-importance analysis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Ranks property fire risk while coping with missing data and a skewed class distribution</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Needs historical incident data that a new prototype does not have</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744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6</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[6] A knowledge-driven approach for automated fire safety compliance checking in operational buildings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Chen et al., Knowledge-Based Systems, vol. 336, 2026</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Automate fire-safety compliance checking</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Multimodal perception, semantic integration and rule-based inference over layouts, images and regulatory clauses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Pixel accuracy 0.90 (layout extraction), mAP 0.91 (safety-asset detection); domain-adapted VQA improves compliance descriptions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Broader scope (knowledge graphs, vision-language models). No application-to-certificate workflow</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42405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83A4-CCAE-3856-09A7-9D66EE821E8D}"/>
            </a:ext>
          </a:extLst>
        </p:cNvPr>
        <p:cNvGrpSpPr/>
        <p:nvPr/>
      </p:nvGrpSpPr>
      <p:grpSpPr>
        <a:xfrm>
          <a:off x="0" y="0"/>
          <a:ext cx="0" cy="0"/>
          <a:chOff x="0" y="0"/>
          <a:chExt cx="0" cy="0"/>
        </a:xfrm>
      </p:grpSpPr>
      <p:sp>
        <p:nvSpPr>
          <p:cNvPr id="18435" name="Slide Number Placeholder 4">
            <a:extLst>
              <a:ext uri="{FF2B5EF4-FFF2-40B4-BE49-F238E27FC236}">
                <a16:creationId xmlns:a16="http://schemas.microsoft.com/office/drawing/2014/main" id="{3C7A4BED-041D-222F-129F-3DFA14D5DAA9}"/>
              </a:ext>
            </a:extLst>
          </p:cNvPr>
          <p:cNvSpPr>
            <a:spLocks noGrp="1"/>
          </p:cNvSpPr>
          <p:nvPr>
            <p:ph type="sldNum" sz="quarter" idx="4294967295"/>
          </p:nvPr>
        </p:nvSpPr>
        <p:spPr bwMode="auto">
          <a:xfrm>
            <a:off x="7010400" y="6356350"/>
            <a:ext cx="2133600" cy="365125"/>
          </a:xfrm>
          <a:prstGeom prst="rect">
            <a:avLst/>
          </a:prstGeom>
          <a:noFill/>
          <a:ln>
            <a:miter lim="800000"/>
            <a:headEnd/>
            <a:tailEnd/>
          </a:ln>
        </p:spPr>
        <p:txBody>
          <a:bodyPr/>
          <a:lstStyle/>
          <a:p>
            <a:fld id="{C3D033E1-F08F-4BAD-B998-B91064587D12}" type="slidenum">
              <a:rPr lang="en-IN" altLang="en-US" sz="1200" smtClean="0">
                <a:solidFill>
                  <a:srgbClr val="FFFFFF"/>
                </a:solidFill>
                <a:latin typeface="Franklin Gothic Book" pitchFamily="34" charset="0"/>
              </a:rPr>
              <a:pPr/>
              <a:t>6</a:t>
            </a:fld>
            <a:endParaRPr lang="en-IN" altLang="en-US" sz="1200">
              <a:solidFill>
                <a:srgbClr val="FFFFFF"/>
              </a:solidFill>
              <a:latin typeface="Franklin Gothic Book" pitchFamily="34" charset="0"/>
            </a:endParaRPr>
          </a:p>
        </p:txBody>
      </p:sp>
      <p:sp>
        <p:nvSpPr>
          <p:cNvPr id="2" name="TextBox 1">
            <a:extLst>
              <a:ext uri="{FF2B5EF4-FFF2-40B4-BE49-F238E27FC236}">
                <a16:creationId xmlns:a16="http://schemas.microsoft.com/office/drawing/2014/main" id="{AC571777-427F-51F8-D55A-F9AFA930667F}"/>
              </a:ext>
            </a:extLst>
          </p:cNvPr>
          <p:cNvSpPr txBox="1"/>
          <p:nvPr/>
        </p:nvSpPr>
        <p:spPr>
          <a:xfrm>
            <a:off x="3484455" y="368577"/>
            <a:ext cx="2420856"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D203F2F-4D64-7E65-87B7-A0A20BABBC2E}"/>
              </a:ext>
            </a:extLst>
          </p:cNvPr>
          <p:cNvGraphicFramePr>
            <a:graphicFrameLocks noGrp="1"/>
          </p:cNvGraphicFramePr>
          <p:nvPr>
            <p:extLst>
              <p:ext uri="{D42A27DB-BD31-4B8C-83A1-F6EECF244321}">
                <p14:modId xmlns:p14="http://schemas.microsoft.com/office/powerpoint/2010/main" val="3709356427"/>
              </p:ext>
            </p:extLst>
          </p:nvPr>
        </p:nvGraphicFramePr>
        <p:xfrm>
          <a:off x="399600" y="1299524"/>
          <a:ext cx="8344800" cy="4095720"/>
        </p:xfrm>
        <a:graphic>
          <a:graphicData uri="http://schemas.openxmlformats.org/drawingml/2006/table">
            <a:tbl>
              <a:tblPr firstRow="1" firstCol="1" bandRow="1">
                <a:tableStyleId>{5C22544A-7EE6-4342-B048-85BDC9FD1C3A}</a:tableStyleId>
              </a:tblPr>
              <a:tblGrid>
                <a:gridCol w="330000">
                  <a:extLst>
                    <a:ext uri="{9D8B030D-6E8A-4147-A177-3AD203B41FA5}">
                      <a16:colId xmlns:a16="http://schemas.microsoft.com/office/drawing/2014/main" val="75903226"/>
                    </a:ext>
                  </a:extLst>
                </a:gridCol>
                <a:gridCol w="1330000">
                  <a:extLst>
                    <a:ext uri="{9D8B030D-6E8A-4147-A177-3AD203B41FA5}">
                      <a16:colId xmlns:a16="http://schemas.microsoft.com/office/drawing/2014/main" val="606513839"/>
                    </a:ext>
                  </a:extLst>
                </a:gridCol>
                <a:gridCol w="900000">
                  <a:extLst>
                    <a:ext uri="{9D8B030D-6E8A-4147-A177-3AD203B41FA5}">
                      <a16:colId xmlns:a16="http://schemas.microsoft.com/office/drawing/2014/main" val="3345770449"/>
                    </a:ext>
                  </a:extLst>
                </a:gridCol>
                <a:gridCol w="1000000">
                  <a:extLst>
                    <a:ext uri="{9D8B030D-6E8A-4147-A177-3AD203B41FA5}">
                      <a16:colId xmlns:a16="http://schemas.microsoft.com/office/drawing/2014/main" val="595812218"/>
                    </a:ext>
                  </a:extLst>
                </a:gridCol>
                <a:gridCol w="1520000">
                  <a:extLst>
                    <a:ext uri="{9D8B030D-6E8A-4147-A177-3AD203B41FA5}">
                      <a16:colId xmlns:a16="http://schemas.microsoft.com/office/drawing/2014/main" val="3239940121"/>
                    </a:ext>
                  </a:extLst>
                </a:gridCol>
                <a:gridCol w="1700000">
                  <a:extLst>
                    <a:ext uri="{9D8B030D-6E8A-4147-A177-3AD203B41FA5}">
                      <a16:colId xmlns:a16="http://schemas.microsoft.com/office/drawing/2014/main" val="771045798"/>
                    </a:ext>
                  </a:extLst>
                </a:gridCol>
                <a:gridCol w="1564800">
                  <a:extLst>
                    <a:ext uri="{9D8B030D-6E8A-4147-A177-3AD203B41FA5}">
                      <a16:colId xmlns:a16="http://schemas.microsoft.com/office/drawing/2014/main" val="1234567891"/>
                    </a:ext>
                  </a:extLst>
                </a:gridCol>
              </a:tblGrid>
              <a:tr h="562920">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Sr. No.</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Title / Source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Authors, Year</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Objective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Method / Technique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Key Findings</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Limitation / Gap for SmartFire-NOC</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1268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7</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[7] FloorPlanCAD: A large-scale CAD drawing dataset for panoptic symbol spotting</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Fan et al., ICCV, 2021</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Benchmark symbol spotting in CAD drawings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Large annotated CAD drawing dataset for panoptic symbol spotting</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Shows symbol detection in architectural drawings is a recognized task with a dedicated benchmark</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Vector CAD focus; submitted drawings may be scanned PDFs or images, and symbol conventions may differ. Own annotated sample set needed</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2792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8</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[8] LayoutLMv3: Pre-training for document AI with unified text and image masking</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Huang et al., ACM Multimedia, 2022</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General pre-training for Document AI</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Multimodal Transformer with unified text and image masking and word-patch alignment</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State-of-the-art reported on form and receipt understanding, document VQA, document image classification and layout analysis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Results are on public benchmarks, not on ownership records, approved plans or fire-equipment certificates. Must be measured on project data against simpler baselines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1268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9</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[9] Secure audit logs to support computer forensics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Schneier and Kelsey, ACM TISSEC, vol. 1, no. 3, 1999</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Protect log files on an untrusted machine</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Cryptographic method for secure audit logs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Earlier entries cannot be read, and cannot be modified or destroyed without detection, after a compromise</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Stronger than the simple SHA-256 hash chain planned here. SmartFire-NOC uses only the tamper-evidence idea and does not claim immutability</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42405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383A4-CCAE-3856-09A7-9D66EE821E8D}"/>
            </a:ext>
          </a:extLst>
        </p:cNvPr>
        <p:cNvGrpSpPr/>
        <p:nvPr/>
      </p:nvGrpSpPr>
      <p:grpSpPr>
        <a:xfrm>
          <a:off x="0" y="0"/>
          <a:ext cx="0" cy="0"/>
          <a:chOff x="0" y="0"/>
          <a:chExt cx="0" cy="0"/>
        </a:xfrm>
      </p:grpSpPr>
      <p:sp>
        <p:nvSpPr>
          <p:cNvPr id="18435" name="Slide Number Placeholder 4">
            <a:extLst>
              <a:ext uri="{FF2B5EF4-FFF2-40B4-BE49-F238E27FC236}">
                <a16:creationId xmlns:a16="http://schemas.microsoft.com/office/drawing/2014/main" id="{3C7A4BED-041D-222F-129F-3DFA14D5DAA9}"/>
              </a:ext>
            </a:extLst>
          </p:cNvPr>
          <p:cNvSpPr>
            <a:spLocks noGrp="1"/>
          </p:cNvSpPr>
          <p:nvPr>
            <p:ph type="sldNum" sz="quarter" idx="4294967295"/>
          </p:nvPr>
        </p:nvSpPr>
        <p:spPr bwMode="auto">
          <a:xfrm>
            <a:off x="7010400" y="6356350"/>
            <a:ext cx="2133600" cy="365125"/>
          </a:xfrm>
          <a:prstGeom prst="rect">
            <a:avLst/>
          </a:prstGeom>
          <a:noFill/>
          <a:ln>
            <a:miter lim="800000"/>
            <a:headEnd/>
            <a:tailEnd/>
          </a:ln>
        </p:spPr>
        <p:txBody>
          <a:bodyPr/>
          <a:lstStyle/>
          <a:p>
            <a:fld id="{C3D033E1-F08F-4BAD-B998-B91064587D12}" type="slidenum">
              <a:rPr lang="en-IN" altLang="en-US" sz="1200" smtClean="0">
                <a:solidFill>
                  <a:srgbClr val="FFFFFF"/>
                </a:solidFill>
                <a:latin typeface="Franklin Gothic Book" pitchFamily="34" charset="0"/>
              </a:rPr>
              <a:pPr/>
              <a:t>7</a:t>
            </a:fld>
            <a:endParaRPr lang="en-IN" altLang="en-US" sz="1200">
              <a:solidFill>
                <a:srgbClr val="FFFFFF"/>
              </a:solidFill>
              <a:latin typeface="Franklin Gothic Book" pitchFamily="34" charset="0"/>
            </a:endParaRPr>
          </a:p>
        </p:txBody>
      </p:sp>
      <p:sp>
        <p:nvSpPr>
          <p:cNvPr id="2" name="TextBox 1">
            <a:extLst>
              <a:ext uri="{FF2B5EF4-FFF2-40B4-BE49-F238E27FC236}">
                <a16:creationId xmlns:a16="http://schemas.microsoft.com/office/drawing/2014/main" id="{AC571777-427F-51F8-D55A-F9AFA930667F}"/>
              </a:ext>
            </a:extLst>
          </p:cNvPr>
          <p:cNvSpPr txBox="1"/>
          <p:nvPr/>
        </p:nvSpPr>
        <p:spPr>
          <a:xfrm>
            <a:off x="3484455" y="368577"/>
            <a:ext cx="2420856"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D203F2F-4D64-7E65-87B7-A0A20BABBC2E}"/>
              </a:ext>
            </a:extLst>
          </p:cNvPr>
          <p:cNvGraphicFramePr>
            <a:graphicFrameLocks noGrp="1"/>
          </p:cNvGraphicFramePr>
          <p:nvPr>
            <p:extLst>
              <p:ext uri="{D42A27DB-BD31-4B8C-83A1-F6EECF244321}">
                <p14:modId xmlns:p14="http://schemas.microsoft.com/office/powerpoint/2010/main" val="3858276880"/>
              </p:ext>
            </p:extLst>
          </p:nvPr>
        </p:nvGraphicFramePr>
        <p:xfrm>
          <a:off x="399600" y="1299524"/>
          <a:ext cx="8344800" cy="2876520"/>
        </p:xfrm>
        <a:graphic>
          <a:graphicData uri="http://schemas.openxmlformats.org/drawingml/2006/table">
            <a:tbl>
              <a:tblPr firstRow="1" firstCol="1" bandRow="1">
                <a:tableStyleId>{5C22544A-7EE6-4342-B048-85BDC9FD1C3A}</a:tableStyleId>
              </a:tblPr>
              <a:tblGrid>
                <a:gridCol w="330000">
                  <a:extLst>
                    <a:ext uri="{9D8B030D-6E8A-4147-A177-3AD203B41FA5}">
                      <a16:colId xmlns:a16="http://schemas.microsoft.com/office/drawing/2014/main" val="75903226"/>
                    </a:ext>
                  </a:extLst>
                </a:gridCol>
                <a:gridCol w="1330000">
                  <a:extLst>
                    <a:ext uri="{9D8B030D-6E8A-4147-A177-3AD203B41FA5}">
                      <a16:colId xmlns:a16="http://schemas.microsoft.com/office/drawing/2014/main" val="606513839"/>
                    </a:ext>
                  </a:extLst>
                </a:gridCol>
                <a:gridCol w="900000">
                  <a:extLst>
                    <a:ext uri="{9D8B030D-6E8A-4147-A177-3AD203B41FA5}">
                      <a16:colId xmlns:a16="http://schemas.microsoft.com/office/drawing/2014/main" val="3345770449"/>
                    </a:ext>
                  </a:extLst>
                </a:gridCol>
                <a:gridCol w="1000000">
                  <a:extLst>
                    <a:ext uri="{9D8B030D-6E8A-4147-A177-3AD203B41FA5}">
                      <a16:colId xmlns:a16="http://schemas.microsoft.com/office/drawing/2014/main" val="595812218"/>
                    </a:ext>
                  </a:extLst>
                </a:gridCol>
                <a:gridCol w="1520000">
                  <a:extLst>
                    <a:ext uri="{9D8B030D-6E8A-4147-A177-3AD203B41FA5}">
                      <a16:colId xmlns:a16="http://schemas.microsoft.com/office/drawing/2014/main" val="3239940121"/>
                    </a:ext>
                  </a:extLst>
                </a:gridCol>
                <a:gridCol w="1700000">
                  <a:extLst>
                    <a:ext uri="{9D8B030D-6E8A-4147-A177-3AD203B41FA5}">
                      <a16:colId xmlns:a16="http://schemas.microsoft.com/office/drawing/2014/main" val="771045798"/>
                    </a:ext>
                  </a:extLst>
                </a:gridCol>
                <a:gridCol w="1564800">
                  <a:extLst>
                    <a:ext uri="{9D8B030D-6E8A-4147-A177-3AD203B41FA5}">
                      <a16:colId xmlns:a16="http://schemas.microsoft.com/office/drawing/2014/main" val="1234567891"/>
                    </a:ext>
                  </a:extLst>
                </a:gridCol>
              </a:tblGrid>
              <a:tr h="562920">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Sr. No.</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Title / Source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Authors, Year</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Objective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Method / Technique</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Key Findings</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buNone/>
                      </a:pPr>
                      <a:r>
                        <a:rPr lang="en-IN" sz="1100" b="0" kern="100">
                          <a:solidFill>
                            <a:schemeClr val="tx1"/>
                          </a:solidFill>
                          <a:effectLst/>
                          <a:latin typeface="Times New Roman" panose="02020603050405020304" pitchFamily="18" charset="0"/>
                          <a:cs typeface="Times New Roman" panose="02020603050405020304" pitchFamily="18" charset="0"/>
                        </a:rPr>
                        <a:t>Limitation / Gap for SmartFire-NOC</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220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10</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[10] An overview of the Tesseract OCR engine</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Smith, ICDAR, 2007</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Describe an open-source OCR engine</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OCR engine architecture overview</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Candidate engine for the text-extraction step</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OCR errors flow into later steps, and OCR success does not prove a document is authentic</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696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11</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[11] JSON Web Token (JWT), IETF RFC 7519</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Jones, Bradley and Sakimura, 2015</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Standard token format for claims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Compact signed tokens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Basis for session authentication in SmartFire-NOC</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A token proves identity only; backend role and ownership checks are still required</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22000">
                <a:tc>
                  <a:txBody>
                    <a:bodyPr/>
                    <a:lstStyle/>
                    <a:p>
                      <a:pPr algn="ct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12</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[12] Role-based access control models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Sandhu et al., IEEE Computer, 1996</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Define RBAC models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Permissions assigned to roles, users assigned to roles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Basis for the applicant and inspector permissions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Aft>
                          <a:spcPts val="0"/>
                        </a:spcAft>
                        <a:buNone/>
                      </a:pPr>
                      <a:r>
                        <a:rPr lang="en-IN" sz="1000" b="0" kern="100" dirty="0">
                          <a:solidFill>
                            <a:schemeClr val="tx1"/>
                          </a:solidFill>
                          <a:effectLst/>
                          <a:latin typeface="Times New Roman" panose="02020603050405020304" pitchFamily="18" charset="0"/>
                          <a:cs typeface="Times New Roman" panose="02020603050405020304" pitchFamily="18" charset="0"/>
                        </a:rPr>
                        <a:t>Roles alone do not stop an applicant reading another applicant's record, so ownership checks are added</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720" marR="45720" marT="27432" marB="274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42405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DA29D-10C9-A539-1AE5-0232F84A54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395F613-F933-27A4-DA6C-327A720F59CE}"/>
              </a:ext>
            </a:extLst>
          </p:cNvPr>
          <p:cNvSpPr txBox="1"/>
          <p:nvPr/>
        </p:nvSpPr>
        <p:spPr>
          <a:xfrm>
            <a:off x="2939319" y="351000"/>
            <a:ext cx="4238661"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Problem Statement &amp; Objectives</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C961BC9-7250-1463-7222-BC86E15C6D3B}"/>
              </a:ext>
            </a:extLst>
          </p:cNvPr>
          <p:cNvSpPr txBox="1"/>
          <p:nvPr/>
        </p:nvSpPr>
        <p:spPr>
          <a:xfrm>
            <a:off x="331200" y="1787400"/>
            <a:ext cx="8481600" cy="3785652"/>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Problem Statement</a:t>
            </a:r>
          </a:p>
          <a:p>
            <a:endParaRPr lang="en-IN" sz="1600" b="1" dirty="0"/>
          </a:p>
          <a:p>
            <a:r>
              <a:rPr lang="en-IN" sz="1600" dirty="0">
                <a:latin typeface="Times New Roman" panose="02020603050405020304" pitchFamily="18" charset="0"/>
                <a:cs typeface="Times New Roman" panose="02020603050405020304" pitchFamily="18" charset="0"/>
              </a:rPr>
              <a:t>The existing Fire Department Inspection and NoC Management process often involves extensive paperwork, manual document verification, and time-consuming inspection procedures. Managing different fire safety requirements for residential, commercial, and industrial buildings makes the process complex and increases the possibility of errors, delays, and inconsistent evaluations. Applicants may face difficulties understanding the required documents and tracking their application status.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Fire department officials also encounter challenges in scheduling inspections, verifying compliance, and maintaining accurate records. Therefore, there is a need for an intelligent digital system that automates requirement generation through a dynamic rule engine, assists document verification using artificial intelligence, supports floor plan analysis, streamlines inspection scheduling, and enables transparent application tracking while ensuring that final approval decisions remain with authorized fire department officials.</a:t>
            </a:r>
          </a:p>
        </p:txBody>
      </p:sp>
    </p:spTree>
    <p:extLst>
      <p:ext uri="{BB962C8B-B14F-4D97-AF65-F5344CB8AC3E}">
        <p14:creationId xmlns:p14="http://schemas.microsoft.com/office/powerpoint/2010/main" val="433369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551D-4F1B-CCFB-1B39-4D574113D3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884AEA5-A2E9-42EB-B1BE-69BC1BD9451F}"/>
              </a:ext>
            </a:extLst>
          </p:cNvPr>
          <p:cNvSpPr txBox="1"/>
          <p:nvPr/>
        </p:nvSpPr>
        <p:spPr>
          <a:xfrm>
            <a:off x="673200" y="1582200"/>
            <a:ext cx="7797600" cy="4524315"/>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Objectives</a:t>
            </a:r>
          </a:p>
          <a:p>
            <a:pPr>
              <a:buNone/>
            </a:pPr>
            <a:endParaRPr lang="en-IN" sz="1600" b="1"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1600" dirty="0">
                <a:latin typeface="Times New Roman" panose="02020603050405020304" pitchFamily="18" charset="0"/>
                <a:cs typeface="Times New Roman" panose="02020603050405020304" pitchFamily="18" charset="0"/>
              </a:rPr>
              <a:t>To digitize and streamline the Fire Department Inspection and NoC application process.</a:t>
            </a:r>
          </a:p>
          <a:p>
            <a:pPr marL="342900" lvl="0" indent="-342900">
              <a:buFont typeface="+mj-lt"/>
              <a:buAutoNum type="arabicPeriod"/>
            </a:pPr>
            <a:endParaRPr lang="en-IN" sz="16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1600" dirty="0">
                <a:latin typeface="Times New Roman" panose="02020603050405020304" pitchFamily="18" charset="0"/>
                <a:cs typeface="Times New Roman" panose="02020603050405020304" pitchFamily="18" charset="0"/>
              </a:rPr>
              <a:t>To develop a dynamic rule engine that generates building-specific fire safety requirements.</a:t>
            </a:r>
          </a:p>
          <a:p>
            <a:pPr marL="342900" lvl="0" indent="-342900">
              <a:buFont typeface="+mj-lt"/>
              <a:buAutoNum type="arabicPeriod"/>
            </a:pPr>
            <a:endParaRPr lang="en-IN" sz="16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1600" dirty="0">
                <a:latin typeface="Times New Roman" panose="02020603050405020304" pitchFamily="18" charset="0"/>
                <a:cs typeface="Times New Roman" panose="02020603050405020304" pitchFamily="18" charset="0"/>
              </a:rPr>
              <a:t>To implement AI-based document verification to identify missing or inconsistent documents.</a:t>
            </a:r>
          </a:p>
          <a:p>
            <a:pPr marL="342900" lvl="0" indent="-342900">
              <a:buFont typeface="+mj-lt"/>
              <a:buAutoNum type="arabicPeriod"/>
            </a:pPr>
            <a:endParaRPr lang="en-IN" sz="16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1600" dirty="0">
                <a:latin typeface="Times New Roman" panose="02020603050405020304" pitchFamily="18" charset="0"/>
                <a:cs typeface="Times New Roman" panose="02020603050405020304" pitchFamily="18" charset="0"/>
              </a:rPr>
              <a:t>To support fire safety evaluation through floor plan analysis.</a:t>
            </a:r>
          </a:p>
          <a:p>
            <a:pPr marL="342900" lvl="0" indent="-342900">
              <a:buFont typeface="+mj-lt"/>
              <a:buAutoNum type="arabicPeriod"/>
            </a:pPr>
            <a:endParaRPr lang="en-IN" sz="16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1600" dirty="0">
                <a:latin typeface="Times New Roman" panose="02020603050405020304" pitchFamily="18" charset="0"/>
                <a:cs typeface="Times New Roman" panose="02020603050405020304" pitchFamily="18" charset="0"/>
              </a:rPr>
              <a:t>To automate inspection scheduling and application status tracking.</a:t>
            </a:r>
          </a:p>
          <a:p>
            <a:pPr marL="342900" lvl="0" indent="-342900">
              <a:buFont typeface="+mj-lt"/>
              <a:buAutoNum type="arabicPeriod"/>
            </a:pPr>
            <a:endParaRPr lang="en-IN" sz="16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1600" dirty="0">
                <a:latin typeface="Times New Roman" panose="02020603050405020304" pitchFamily="18" charset="0"/>
                <a:cs typeface="Times New Roman" panose="02020603050405020304" pitchFamily="18" charset="0"/>
              </a:rPr>
              <a:t>To maintain digital audit trails for transparency and accountability.</a:t>
            </a:r>
          </a:p>
          <a:p>
            <a:pPr marL="342900" lvl="0" indent="-342900">
              <a:buFont typeface="+mj-lt"/>
              <a:buAutoNum type="arabicPeriod"/>
            </a:pPr>
            <a:endParaRPr lang="en-IN" sz="1600"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1600" dirty="0">
                <a:latin typeface="Times New Roman" panose="02020603050405020304" pitchFamily="18" charset="0"/>
                <a:cs typeface="Times New Roman" panose="02020603050405020304" pitchFamily="18" charset="0"/>
              </a:rPr>
              <a:t>To improve efficiency, reduce paperwork, and assist officials in making informed NOC approval decisions.</a:t>
            </a:r>
          </a:p>
        </p:txBody>
      </p:sp>
      <p:sp>
        <p:nvSpPr>
          <p:cNvPr id="5" name="TextBox 4">
            <a:extLst>
              <a:ext uri="{FF2B5EF4-FFF2-40B4-BE49-F238E27FC236}">
                <a16:creationId xmlns:a16="http://schemas.microsoft.com/office/drawing/2014/main" id="{8B2D0CF4-79A2-B8EA-E6D6-9B083E010FF1}"/>
              </a:ext>
            </a:extLst>
          </p:cNvPr>
          <p:cNvSpPr txBox="1"/>
          <p:nvPr/>
        </p:nvSpPr>
        <p:spPr>
          <a:xfrm>
            <a:off x="1913392" y="351000"/>
            <a:ext cx="6290504"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Fire Department Inspection &amp; NOC Management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1609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229D0-0045-385A-1EF1-39EC8538CD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0D4900-DDC0-4C1C-8223-610F6860C8CB}"/>
              </a:ext>
            </a:extLst>
          </p:cNvPr>
          <p:cNvSpPr txBox="1"/>
          <p:nvPr/>
        </p:nvSpPr>
        <p:spPr>
          <a:xfrm>
            <a:off x="1288800" y="1650600"/>
            <a:ext cx="5677200" cy="3741409"/>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Online NOC Application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Document Management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Inspection Scheduling &amp; Assignment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Inspection Checklist &amp; Reports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Application Status Tracking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Follow-up &amp; Re-inspection Management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NOC Generation &amp; Verification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Real-time Notifications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Admin &amp; Inspector Dashboards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Application History &amp; Audit Trail </a:t>
            </a:r>
          </a:p>
        </p:txBody>
      </p:sp>
      <p:sp>
        <p:nvSpPr>
          <p:cNvPr id="6" name="TextBox 5">
            <a:extLst>
              <a:ext uri="{FF2B5EF4-FFF2-40B4-BE49-F238E27FC236}">
                <a16:creationId xmlns:a16="http://schemas.microsoft.com/office/drawing/2014/main" id="{B41C4E6F-19FE-92F6-F976-1502DA9251F0}"/>
              </a:ext>
            </a:extLst>
          </p:cNvPr>
          <p:cNvSpPr txBox="1"/>
          <p:nvPr/>
        </p:nvSpPr>
        <p:spPr>
          <a:xfrm>
            <a:off x="4445329" y="351000"/>
            <a:ext cx="1226618"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Features</a:t>
            </a:r>
          </a:p>
        </p:txBody>
      </p:sp>
    </p:spTree>
    <p:extLst>
      <p:ext uri="{BB962C8B-B14F-4D97-AF65-F5344CB8AC3E}">
        <p14:creationId xmlns:p14="http://schemas.microsoft.com/office/powerpoint/2010/main" val="3784994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5AEC0-FE18-1AF4-83CE-DE0D195DB10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331B318-E360-7C0A-651E-16B6E51156B1}"/>
              </a:ext>
            </a:extLst>
          </p:cNvPr>
          <p:cNvSpPr txBox="1"/>
          <p:nvPr/>
        </p:nvSpPr>
        <p:spPr>
          <a:xfrm>
            <a:off x="3901917" y="351000"/>
            <a:ext cx="2313454" cy="461665"/>
          </a:xfrm>
          <a:prstGeom prst="rect">
            <a:avLst/>
          </a:prstGeom>
          <a:noFill/>
        </p:spPr>
        <p:txBody>
          <a:bodyPr wrap="none" rtlCol="0">
            <a:spAutoFit/>
          </a:bodyPr>
          <a:lstStyle/>
          <a:p>
            <a:pPr algn="ctr"/>
            <a:r>
              <a:rPr lang="en-US" sz="2400" dirty="0">
                <a:latin typeface="Times New Roman" panose="02020603050405020304" pitchFamily="18" charset="0"/>
                <a:cs typeface="Times New Roman" panose="02020603050405020304" pitchFamily="18" charset="0"/>
              </a:rPr>
              <a:t>Proposed System</a:t>
            </a:r>
          </a:p>
        </p:txBody>
      </p:sp>
      <p:pic>
        <p:nvPicPr>
          <p:cNvPr id="6" name="Picture 5">
            <a:extLst>
              <a:ext uri="{FF2B5EF4-FFF2-40B4-BE49-F238E27FC236}">
                <a16:creationId xmlns:a16="http://schemas.microsoft.com/office/drawing/2014/main" id="{904074EE-3053-8678-90A1-D955A37EFC8B}"/>
              </a:ext>
            </a:extLst>
          </p:cNvPr>
          <p:cNvPicPr>
            <a:picLocks noChangeAspect="1"/>
          </p:cNvPicPr>
          <p:nvPr/>
        </p:nvPicPr>
        <p:blipFill>
          <a:blip r:embed="rId2">
            <a:extLst>
              <a:ext uri="{28A0092B-C50C-407E-A947-70E740481C1C}">
                <a14:useLocalDpi xmlns:a14="http://schemas.microsoft.com/office/drawing/2010/main" val="0"/>
              </a:ext>
            </a:extLst>
          </a:blip>
          <a:srcRect t="11131"/>
          <a:stretch>
            <a:fillRect/>
          </a:stretch>
        </p:blipFill>
        <p:spPr>
          <a:xfrm>
            <a:off x="165600" y="1285800"/>
            <a:ext cx="8812800" cy="5221200"/>
          </a:xfrm>
          <a:prstGeom prst="rect">
            <a:avLst/>
          </a:prstGeom>
        </p:spPr>
      </p:pic>
    </p:spTree>
    <p:extLst>
      <p:ext uri="{BB962C8B-B14F-4D97-AF65-F5344CB8AC3E}">
        <p14:creationId xmlns:p14="http://schemas.microsoft.com/office/powerpoint/2010/main" val="2194607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92106-90AC-B1BE-D375-1B380ADD19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E3376A-5498-E403-16A4-BB2F98194594}"/>
              </a:ext>
            </a:extLst>
          </p:cNvPr>
          <p:cNvSpPr txBox="1"/>
          <p:nvPr/>
        </p:nvSpPr>
        <p:spPr>
          <a:xfrm>
            <a:off x="502200" y="2274838"/>
            <a:ext cx="8139600" cy="230832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proposed Fire Department Inspection &amp; NOC Management System aims to digitize and streamline the complete fire NOC process, from application and inspection to approval and follow-up. By introducing risk-based inspection prioritization, smart inspector management, centralized records, and real-time tracking, the system can reduce delays, improve transparency, and make fire safety administration more efficient.</a:t>
            </a:r>
          </a:p>
          <a:p>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6DD7278-F052-E393-FD2B-E9F776A433E5}"/>
              </a:ext>
            </a:extLst>
          </p:cNvPr>
          <p:cNvSpPr txBox="1"/>
          <p:nvPr/>
        </p:nvSpPr>
        <p:spPr>
          <a:xfrm>
            <a:off x="4265799" y="351000"/>
            <a:ext cx="1585690"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3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84158-1719-8508-A4C1-A6DEC492E6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555B2F-B778-3946-CBFD-C0F945ED3274}"/>
              </a:ext>
            </a:extLst>
          </p:cNvPr>
          <p:cNvSpPr txBox="1"/>
          <p:nvPr/>
        </p:nvSpPr>
        <p:spPr>
          <a:xfrm>
            <a:off x="4093200" y="419400"/>
            <a:ext cx="1550424"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C0D04F3D-7D9E-3A3B-6801-BACDD13F20D9}"/>
              </a:ext>
            </a:extLst>
          </p:cNvPr>
          <p:cNvSpPr txBox="1"/>
          <p:nvPr/>
        </p:nvSpPr>
        <p:spPr>
          <a:xfrm>
            <a:off x="468000" y="1445400"/>
            <a:ext cx="8208000" cy="452431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 Government of Maharashtra, “The Maharashtra Fire Prevention and Life Safety Measures Act, 2006 (Mah. Act No. III of 2007),” as amended, including the Maharashtra Fire Prevention and Life Safety Measures (Amendment) Act, 2023 (Mah. Act No. 24 of 2023).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[2] </a:t>
            </a:r>
            <a:r>
              <a:rPr lang="en-US" sz="1600" dirty="0" err="1">
                <a:latin typeface="Times New Roman" panose="02020603050405020304" pitchFamily="18" charset="0"/>
                <a:cs typeface="Times New Roman" panose="02020603050405020304" pitchFamily="18" charset="0"/>
              </a:rPr>
              <a:t>eGovernments</a:t>
            </a:r>
            <a:r>
              <a:rPr lang="en-US" sz="1600" dirty="0">
                <a:latin typeface="Times New Roman" panose="02020603050405020304" pitchFamily="18" charset="0"/>
                <a:cs typeface="Times New Roman" panose="02020603050405020304" pitchFamily="18" charset="0"/>
              </a:rPr>
              <a:t> Foundation, “DIGIT Fire NOC.” [Online]. Available: https://digit.org/digit-urban-fire-noc (accessed Oct. 22, 2026).</a:t>
            </a:r>
          </a:p>
          <a:p>
            <a:endParaRPr lang="en-US"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[3] Centre for Good Governance, Hyderabad, “Comprehensive online application for Fire Department,” e-Governance Projects. [Online]. Available: https://cgg.gov.in/it_project/1618/ (accessed Oct. 22, 2026).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M. Madaio, S.-T. Chen, O. L. </a:t>
            </a:r>
            <a:r>
              <a:rPr lang="en-IN" sz="1600" dirty="0" err="1">
                <a:latin typeface="Times New Roman" panose="02020603050405020304" pitchFamily="18" charset="0"/>
                <a:cs typeface="Times New Roman" panose="02020603050405020304" pitchFamily="18" charset="0"/>
              </a:rPr>
              <a:t>Haimson</a:t>
            </a:r>
            <a:r>
              <a:rPr lang="en-IN" sz="1600" dirty="0">
                <a:latin typeface="Times New Roman" panose="02020603050405020304" pitchFamily="18" charset="0"/>
                <a:cs typeface="Times New Roman" panose="02020603050405020304" pitchFamily="18" charset="0"/>
              </a:rPr>
              <a:t>, W. Zhang, X. Cheng, M. Hinds-Aldrich, D. H. Chau, and B. </a:t>
            </a:r>
            <a:r>
              <a:rPr lang="en-IN" sz="1600" dirty="0" err="1">
                <a:latin typeface="Times New Roman" panose="02020603050405020304" pitchFamily="18" charset="0"/>
                <a:cs typeface="Times New Roman" panose="02020603050405020304" pitchFamily="18" charset="0"/>
              </a:rPr>
              <a:t>Dilkina</a:t>
            </a:r>
            <a:r>
              <a:rPr lang="en-IN" sz="1600" dirty="0">
                <a:latin typeface="Times New Roman" panose="02020603050405020304" pitchFamily="18" charset="0"/>
                <a:cs typeface="Times New Roman" panose="02020603050405020304" pitchFamily="18" charset="0"/>
              </a:rPr>
              <a:t>, “Firebird: Predicting fire risk and prioritizing fire inspections in Atlanta,” in Proc. 22nd ACM SIGKDD Int. Conf. Knowledge Discovery and Data Mining, San Francisco, CA, USA, Aug. 2016,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10.1145/2939672.2939682.</a:t>
            </a:r>
          </a:p>
          <a:p>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[5] R. Dey and A. Fern, “Data-driven structural fire risk prediction for city properties,” in Proc. AAAI Conf. Artificial Intelligence, vol. 38, no. 21, 2024,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10.1609/aaai.v38i21.30325.</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8612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C77C5-E5B0-A06C-3C43-271A201D12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0D6FF9-570C-1E1B-E89F-1334CEFB76EC}"/>
              </a:ext>
            </a:extLst>
          </p:cNvPr>
          <p:cNvSpPr txBox="1"/>
          <p:nvPr/>
        </p:nvSpPr>
        <p:spPr>
          <a:xfrm>
            <a:off x="468000" y="1445400"/>
            <a:ext cx="8208000" cy="452431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[6] D. Chen, L. Chen, Y. Yang, Q. Lu, C. Hancock, R. Lock, and S. Sølvsten, “A knowledge-driven approach for automated fire safety compliance checking in operational buildings,” Knowledge-Based Systems, vol. 336, Art. no. 115156, Mar. 2026,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10.1016/j.knosys.2025.115156.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[7] Z. Fan, L. Zhu, H. Li, X. Chen, S. Zhu, and P. Tan, “</a:t>
            </a:r>
            <a:r>
              <a:rPr lang="en-US" sz="1600" dirty="0" err="1">
                <a:latin typeface="Times New Roman" panose="02020603050405020304" pitchFamily="18" charset="0"/>
                <a:cs typeface="Times New Roman" panose="02020603050405020304" pitchFamily="18" charset="0"/>
              </a:rPr>
              <a:t>FloorPlanCAD</a:t>
            </a:r>
            <a:r>
              <a:rPr lang="en-US" sz="1600" dirty="0">
                <a:latin typeface="Times New Roman" panose="02020603050405020304" pitchFamily="18" charset="0"/>
                <a:cs typeface="Times New Roman" panose="02020603050405020304" pitchFamily="18" charset="0"/>
              </a:rPr>
              <a:t>: A large-scale CAD drawing dataset for panoptic symbol spotting,” in Proc. IEEE/CVF Int. Conf. Computer Vision (ICCV), 2021, pp. 10128–10137.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[8] Y. Huang, T. </a:t>
            </a:r>
            <a:r>
              <a:rPr lang="en-US" sz="1600" dirty="0" err="1">
                <a:latin typeface="Times New Roman" panose="02020603050405020304" pitchFamily="18" charset="0"/>
                <a:cs typeface="Times New Roman" panose="02020603050405020304" pitchFamily="18" charset="0"/>
              </a:rPr>
              <a:t>Lv</a:t>
            </a:r>
            <a:r>
              <a:rPr lang="en-US" sz="1600" dirty="0">
                <a:latin typeface="Times New Roman" panose="02020603050405020304" pitchFamily="18" charset="0"/>
                <a:cs typeface="Times New Roman" panose="02020603050405020304" pitchFamily="18" charset="0"/>
              </a:rPr>
              <a:t>, L. Cui, Y. Lu, and F. Wei, “LayoutLMv3: Pre-training for document AI with unified text and image masking,” in Proc. 30th ACM Int. Conf. Multimedia, 2022,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10.1145/3503161.3548112.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[9] B. Schneier and J. Kelsey, “Secure audit logs to support computer forensics,” ACM Trans. Information and System Security, vol. 1, no. 3, pp. 159–176, 1999.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[10] R. Smith, “An overview of the Tesseract OCR engine,” in Proc. 9th Int. Conf. Document Analysis and Recognition (ICDAR), 2007, pp. 629–633.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53C1219-47D0-190B-A228-51F28C000C78}"/>
              </a:ext>
            </a:extLst>
          </p:cNvPr>
          <p:cNvSpPr txBox="1"/>
          <p:nvPr/>
        </p:nvSpPr>
        <p:spPr>
          <a:xfrm>
            <a:off x="4093200" y="419400"/>
            <a:ext cx="1550424"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3817594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0151-221E-2972-F351-6BA2C177A6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D7536C-B34B-7C57-A04C-EFC9E00883ED}"/>
              </a:ext>
            </a:extLst>
          </p:cNvPr>
          <p:cNvSpPr txBox="1"/>
          <p:nvPr/>
        </p:nvSpPr>
        <p:spPr>
          <a:xfrm>
            <a:off x="468000" y="1445400"/>
            <a:ext cx="8208000" cy="1323439"/>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[11] M. Jones, J. Bradley, and N. </a:t>
            </a:r>
            <a:r>
              <a:rPr lang="en-US" sz="1600" dirty="0" err="1">
                <a:latin typeface="Times New Roman" panose="02020603050405020304" pitchFamily="18" charset="0"/>
                <a:cs typeface="Times New Roman" panose="02020603050405020304" pitchFamily="18" charset="0"/>
              </a:rPr>
              <a:t>Sakimura</a:t>
            </a:r>
            <a:r>
              <a:rPr lang="en-US" sz="1600" dirty="0">
                <a:latin typeface="Times New Roman" panose="02020603050405020304" pitchFamily="18" charset="0"/>
                <a:cs typeface="Times New Roman" panose="02020603050405020304" pitchFamily="18" charset="0"/>
              </a:rPr>
              <a:t>, “JSON Web Token (JWT),” IETF RFC 7519, May 2015.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[12] R. S. Sandhu, E. J. Coyne, H. L. Feinstein, and C. E. Youman, “Role-based access control models,” Computer, vol. 29, no. 2, pp. 38–47, Feb. 1996.</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4AB291D-6951-DACE-9CFA-4E09A5EF7FBA}"/>
              </a:ext>
            </a:extLst>
          </p:cNvPr>
          <p:cNvSpPr txBox="1"/>
          <p:nvPr/>
        </p:nvSpPr>
        <p:spPr>
          <a:xfrm>
            <a:off x="4093200" y="419400"/>
            <a:ext cx="1550424"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3461131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9D241-DD64-72B0-7D9E-BC08E155C69C}"/>
              </a:ext>
            </a:extLst>
          </p:cNvPr>
          <p:cNvSpPr>
            <a:spLocks noGrp="1"/>
          </p:cNvSpPr>
          <p:nvPr>
            <p:ph type="title"/>
          </p:nvPr>
        </p:nvSpPr>
        <p:spPr>
          <a:xfrm>
            <a:off x="628650" y="3223800"/>
            <a:ext cx="7886700" cy="1325563"/>
          </a:xfrm>
        </p:spPr>
        <p:txBody>
          <a:bodyPr/>
          <a:lstStyle/>
          <a:p>
            <a:r>
              <a:rPr lang="en-US" dirty="0"/>
              <a:t>Thank you</a:t>
            </a:r>
            <a:endParaRPr lang="en-IN" dirty="0"/>
          </a:p>
        </p:txBody>
      </p:sp>
    </p:spTree>
    <p:extLst>
      <p:ext uri="{BB962C8B-B14F-4D97-AF65-F5344CB8AC3E}">
        <p14:creationId xmlns:p14="http://schemas.microsoft.com/office/powerpoint/2010/main" val="2964515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81D60-D3BD-6CAD-3809-BBCDC1FDE63F}"/>
            </a:ext>
          </a:extLst>
        </p:cNvPr>
        <p:cNvGrpSpPr/>
        <p:nvPr/>
      </p:nvGrpSpPr>
      <p:grpSpPr>
        <a:xfrm>
          <a:off x="0" y="0"/>
          <a:ext cx="0" cy="0"/>
          <a:chOff x="0" y="0"/>
          <a:chExt cx="0" cy="0"/>
        </a:xfrm>
      </p:grpSpPr>
    </p:spTree>
    <p:extLst>
      <p:ext uri="{BB962C8B-B14F-4D97-AF65-F5344CB8AC3E}">
        <p14:creationId xmlns:p14="http://schemas.microsoft.com/office/powerpoint/2010/main" val="2772867269"/>
      </p:ext>
    </p:extLst>
  </p:cSld>
  <p:clrMapOvr>
    <a:masterClrMapping/>
  </p:clrMapOvr>
</p:sld>
</file>

<file path=ppt/theme/theme1.xml><?xml version="1.0" encoding="utf-8"?>
<a:theme xmlns:a="http://schemas.openxmlformats.org/drawingml/2006/main" name="MGMCET_IT_NEW_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SIT_ETC Templet for the PPT</Template>
  <TotalTime>39847</TotalTime>
  <Words>2143</Words>
  <Application>Microsoft Office PowerPoint</Application>
  <PresentationFormat>On-screen Show (4:3)</PresentationFormat>
  <Paragraphs>204</Paragraphs>
  <Slides>17</Slides>
  <Notes>0</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17</vt:i4>
      </vt:variant>
    </vt:vector>
  </HeadingPairs>
  <TitlesOfParts>
    <vt:vector size="30" baseType="lpstr">
      <vt:lpstr>Arial</vt:lpstr>
      <vt:lpstr>Calibri</vt:lpstr>
      <vt:lpstr>Calibri Light</vt:lpstr>
      <vt:lpstr>Franklin Gothic Book</vt:lpstr>
      <vt:lpstr>Georgia Pro</vt:lpstr>
      <vt:lpstr>Georgia Pro Bold</vt:lpstr>
      <vt:lpstr>Times New Roman</vt:lpstr>
      <vt:lpstr>Times New Roman Bold</vt:lpstr>
      <vt:lpstr>MGMCET_IT_NEW_Logo</vt:lpstr>
      <vt:lpstr>3_Custom Design</vt:lpstr>
      <vt:lpstr>2_Custom Design</vt:lpstr>
      <vt:lpstr>1_Custom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DSMANTRI</dc:creator>
  <cp:lastModifiedBy>Yogesh Kumawat</cp:lastModifiedBy>
  <cp:revision>1906</cp:revision>
  <cp:lastPrinted>1601-01-01T00:00:00Z</cp:lastPrinted>
  <dcterms:created xsi:type="dcterms:W3CDTF">1601-01-01T00:00:00Z</dcterms:created>
  <dcterms:modified xsi:type="dcterms:W3CDTF">2026-10-22T09:42:32Z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